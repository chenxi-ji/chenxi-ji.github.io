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344" r:id="rId3"/>
    <p:sldId id="382" r:id="rId4"/>
    <p:sldId id="415" r:id="rId5"/>
    <p:sldId id="384" r:id="rId6"/>
    <p:sldId id="416" r:id="rId7"/>
    <p:sldId id="410" r:id="rId8"/>
    <p:sldId id="402" r:id="rId9"/>
    <p:sldId id="391" r:id="rId10"/>
    <p:sldId id="393" r:id="rId11"/>
    <p:sldId id="406" r:id="rId12"/>
    <p:sldId id="394" r:id="rId13"/>
    <p:sldId id="407" r:id="rId14"/>
    <p:sldId id="403" r:id="rId15"/>
    <p:sldId id="40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97"/>
    <p:restoredTop sz="94529"/>
  </p:normalViewPr>
  <p:slideViewPr>
    <p:cSldViewPr snapToGrid="0">
      <p:cViewPr varScale="1">
        <p:scale>
          <a:sx n="107" d="100"/>
          <a:sy n="107" d="100"/>
        </p:scale>
        <p:origin x="8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9D33C-E2ED-4F49-9EA3-69B5E236180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62145-10E4-9742-B6DD-9EE3AD3E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Interest: Control, Formal Verification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9077-478A-4B48-A7F5-09DAEBEDCC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21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62145-10E4-9742-B6DD-9EE3AD3E27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81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to add sampled trajectories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96EE-DF8A-CF48-B601-8309BF2C3E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02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610C-8361-09A1-E915-8411D87D4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1B57C-BED7-39A4-12CE-50F394FB1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DD89A-50B4-7203-50D9-CBE03C1C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71CF-3E22-1E4E-A817-08583938A07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48D9C-CE9D-9493-D042-21355D6B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DAB02-04EB-0C23-8C5B-975FD8FDA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62BF-AC62-E14E-A4A7-9E86402D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4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CA5F2-C35A-CBC9-0F96-EACA78A8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FC6F6-665A-53E4-719C-EE36F9FD1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4E7BF-CB6E-8C14-DE98-55E12FC16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71CF-3E22-1E4E-A817-08583938A07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0FE58-1667-F4F3-A1BD-8E04B470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642E0-E6D2-89C8-EC52-A7BA63E0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62BF-AC62-E14E-A4A7-9E86402D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0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B68B-B2E1-C1BF-D947-CFAE636F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6DDE3-3225-321C-0B09-48C0F763D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A5267-7828-733D-B9F1-91FC2445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71CF-3E22-1E4E-A817-08583938A07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98450-510F-6496-EFAA-4846EEE98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9347-81A7-B5AB-2977-AF1BB5363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62BF-AC62-E14E-A4A7-9E86402D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4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18BD-9C4D-1035-947F-FD00A81F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0DE70-BE4E-3AB0-6D8C-391B409C7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8AF07-80E9-76B2-B6E8-9BD4EC09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1A894-A39B-054E-2A65-A16D9EF7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71CF-3E22-1E4E-A817-08583938A07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17780-916A-B550-4C0C-E71947A8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25EA6-8D0B-6BBD-D4CD-9EAE8497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62BF-AC62-E14E-A4A7-9E86402D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28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7B61-19F9-50FA-4A4F-5189EABD4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7A841-70F4-A690-37AC-E122DF65B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DEF8A-833F-F5DF-935A-56AA06629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47E053-D74E-BF00-85D6-9F88DC4F8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6DA4A-4727-280B-2B54-10D633140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01F530-4362-67BE-8D07-ED089F0B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71CF-3E22-1E4E-A817-08583938A07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21ABC-3B60-EF5B-1AB1-9DD1DA0CB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628BB-6285-C28D-82A2-100FA124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62BF-AC62-E14E-A4A7-9E86402D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1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2C829-E322-DF15-D903-0A031241D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4AFE3C-8ED0-A9B3-C96E-B31B2CE2A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71CF-3E22-1E4E-A817-08583938A07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90EC0-7B17-F1AC-DBDE-F9F88178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922E6-0776-F270-98B0-A2AFFAAF7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62BF-AC62-E14E-A4A7-9E86402D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9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33D44-49A5-ACC2-832A-BB774D1F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71CF-3E22-1E4E-A817-08583938A07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6A4F3-C387-99D2-4057-F04BE824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B6C35-1C19-5707-4132-425BBBE2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62BF-AC62-E14E-A4A7-9E86402D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00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FA178-268A-CFB3-B420-5ED82D23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8D111-B6B2-7CED-56E3-C229BD4A4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EC5D1-317A-9BAE-F5CC-9210D8D2D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E0F92-7C74-9D92-5F4B-CB1782A2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71CF-3E22-1E4E-A817-08583938A07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517F0-ACC0-1093-70BC-21DE61D5A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1CE11-02E9-810B-41D7-3BF81D265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62BF-AC62-E14E-A4A7-9E86402D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4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94FD-3A89-F295-B771-465D28276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208F67-966F-D300-7222-6131014309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27234-8DEC-342A-257F-368D6F013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93A80-B56D-6634-BA45-3CBB94CFA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71CF-3E22-1E4E-A817-08583938A07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E27BE-0A3D-3547-4F95-5F9AFD4B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ABAFE-CCB9-5972-7789-25E9761FD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62BF-AC62-E14E-A4A7-9E86402D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56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D00D6-9080-33B6-6117-8E58C7431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98372-3673-C615-C216-1D7A25D48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44E1A-28C1-1B72-04A3-4225E97A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71CF-3E22-1E4E-A817-08583938A07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DE41A-CBA6-C7BB-4C15-E4D85E56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007D2-12A7-2914-1641-102FB193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62BF-AC62-E14E-A4A7-9E86402D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2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C1DD7-8865-F80C-02A5-E8ECFF0D37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5CA55-CB2E-F37D-1418-20922034A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55C02-AA9A-E9E6-8EE7-62D0930C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71CF-3E22-1E4E-A817-08583938A07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F00B-FD9F-20B1-1B21-4360A8A88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80CF4-71AE-1087-2E23-1B92D139E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62BF-AC62-E14E-A4A7-9E86402D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7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2670E-4295-4869-66D0-F0B4CF4C7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A55C6-2BC6-686A-16F7-CE55C58C6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B8368-55F9-C359-DADB-D3DF68AC6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DC71CF-3E22-1E4E-A817-08583938A07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323B8-AFEC-999C-560D-DBC37314F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C4F9F-01FB-9453-8F89-9807FDE57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C62BF-AC62-E14E-A4A7-9E86402D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85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10.png"/><Relationship Id="rId7" Type="http://schemas.openxmlformats.org/officeDocument/2006/relationships/image" Target="../media/image25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7" Type="http://schemas.openxmlformats.org/officeDocument/2006/relationships/image" Target="../media/image420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0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220.png"/><Relationship Id="rId5" Type="http://schemas.openxmlformats.org/officeDocument/2006/relationships/image" Target="../media/image49.png"/><Relationship Id="rId15" Type="http://schemas.openxmlformats.org/officeDocument/2006/relationships/image" Target="../media/image25.png"/><Relationship Id="rId19" Type="http://schemas.openxmlformats.org/officeDocument/2006/relationships/image" Target="../media/image29.png"/><Relationship Id="rId4" Type="http://schemas.openxmlformats.org/officeDocument/2006/relationships/image" Target="../media/image411.png"/><Relationship Id="rId9" Type="http://schemas.openxmlformats.org/officeDocument/2006/relationships/image" Target="../media/image12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680.png"/><Relationship Id="rId18" Type="http://schemas.openxmlformats.org/officeDocument/2006/relationships/image" Target="../media/image73.png"/><Relationship Id="rId26" Type="http://schemas.openxmlformats.org/officeDocument/2006/relationships/image" Target="../media/image81.png"/><Relationship Id="rId3" Type="http://schemas.openxmlformats.org/officeDocument/2006/relationships/image" Target="../media/image31.png"/><Relationship Id="rId21" Type="http://schemas.openxmlformats.org/officeDocument/2006/relationships/image" Target="../media/image76.png"/><Relationship Id="rId7" Type="http://schemas.openxmlformats.org/officeDocument/2006/relationships/image" Target="../media/image35.png"/><Relationship Id="rId12" Type="http://schemas.openxmlformats.org/officeDocument/2006/relationships/image" Target="../media/image670.png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79.png"/><Relationship Id="rId5" Type="http://schemas.openxmlformats.org/officeDocument/2006/relationships/image" Target="../media/image33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28" Type="http://schemas.openxmlformats.org/officeDocument/2006/relationships/image" Target="../media/image83.png"/><Relationship Id="rId10" Type="http://schemas.openxmlformats.org/officeDocument/2006/relationships/image" Target="../media/image38.png"/><Relationship Id="rId19" Type="http://schemas.openxmlformats.org/officeDocument/2006/relationships/image" Target="../media/image74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690.png"/><Relationship Id="rId22" Type="http://schemas.openxmlformats.org/officeDocument/2006/relationships/image" Target="../media/image77.png"/><Relationship Id="rId27" Type="http://schemas.openxmlformats.org/officeDocument/2006/relationships/image" Target="../media/image8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110.png"/><Relationship Id="rId18" Type="http://schemas.openxmlformats.org/officeDocument/2006/relationships/image" Target="../media/image51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" Type="http://schemas.openxmlformats.org/officeDocument/2006/relationships/image" Target="../media/image41.png"/><Relationship Id="rId16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108.png"/><Relationship Id="rId5" Type="http://schemas.openxmlformats.org/officeDocument/2006/relationships/image" Target="../media/image45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19" Type="http://schemas.openxmlformats.org/officeDocument/2006/relationships/image" Target="../media/image52.png"/><Relationship Id="rId4" Type="http://schemas.openxmlformats.org/officeDocument/2006/relationships/image" Target="../media/image44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66A16-BA83-278E-1C66-2C2A603AD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77584"/>
            <a:ext cx="9144000" cy="1738313"/>
          </a:xfrm>
        </p:spPr>
        <p:txBody>
          <a:bodyPr>
            <a:normAutofit/>
          </a:bodyPr>
          <a:lstStyle/>
          <a:p>
            <a:r>
              <a:rPr lang="en-US" sz="4800" dirty="0">
                <a:effectLst/>
                <a:latin typeface="NimbusRomNo9L"/>
              </a:rPr>
              <a:t>Reachability of Non-smooth systems via Lexicographic Jacobian</a:t>
            </a:r>
            <a:endParaRPr lang="en-US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07A69-5A36-7B9F-C4AE-38AD58223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9829800" cy="2220912"/>
          </a:xfrm>
        </p:spPr>
        <p:txBody>
          <a:bodyPr>
            <a:normAutofit/>
          </a:bodyPr>
          <a:lstStyle/>
          <a:p>
            <a:r>
              <a:rPr lang="en-US" sz="3200" dirty="0"/>
              <a:t>Chenxi Ji</a:t>
            </a:r>
          </a:p>
          <a:p>
            <a:r>
              <a:rPr lang="en-US" sz="3200" dirty="0"/>
              <a:t>Advised by: Sayan Mitra, Huan Zhang</a:t>
            </a:r>
          </a:p>
          <a:p>
            <a:r>
              <a:rPr lang="en-US" sz="3200" dirty="0"/>
              <a:t>Date</a:t>
            </a:r>
            <a:r>
              <a:rPr lang="en-US" sz="3200"/>
              <a:t>: 01/2</a:t>
            </a:r>
            <a:r>
              <a:rPr lang="en-US" altLang="zh-CN" sz="3200"/>
              <a:t>5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FFE0B-07A7-8775-4B92-B96BEEB6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8FA2-60FF-9549-A2EE-930AF74BD1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3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53"/>
    </mc:Choice>
    <mc:Fallback xmlns="">
      <p:transition spd="slow" advTm="2925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6ACC31B6-FF85-287C-8935-2EA0C3F04606}"/>
              </a:ext>
            </a:extLst>
          </p:cNvPr>
          <p:cNvSpPr/>
          <p:nvPr/>
        </p:nvSpPr>
        <p:spPr>
          <a:xfrm>
            <a:off x="9280893" y="3600524"/>
            <a:ext cx="2029636" cy="80151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6AC57-7D85-2608-1F4B-0C750590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Reachability for Safety Verification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49061A-45CB-38B6-0313-C93655EBB2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665" y="1825625"/>
                <a:ext cx="8622111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System dynamics: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b="0" dirty="0"/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b="0" dirty="0"/>
              </a:p>
              <a:p>
                <a:r>
                  <a:rPr lang="en-US" sz="2400" dirty="0"/>
                  <a:t>Solution of the system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dirty="0"/>
                  <a:t>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endParaRPr lang="en-US" sz="2400" b="0" dirty="0"/>
              </a:p>
              <a:p>
                <a:r>
                  <a:rPr lang="en-US" sz="2400" dirty="0"/>
                  <a:t>Reach Set: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𝑅𝑒𝑎𝑐h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(0)∈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b="1" dirty="0"/>
                  <a:t>Reachability</a:t>
                </a:r>
                <a:r>
                  <a:rPr lang="en-US" sz="2400" dirty="0"/>
                  <a:t>: </a:t>
                </a:r>
              </a:p>
              <a:p>
                <a:pPr lvl="1"/>
                <a:r>
                  <a:rPr lang="en-US" sz="2000" dirty="0"/>
                  <a:t>Solve an over-approximation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of Reach Set as tight as possible</a:t>
                </a:r>
              </a:p>
              <a:p>
                <a:r>
                  <a:rPr lang="en-US" sz="2400" b="1" dirty="0"/>
                  <a:t>Safety Verification: </a:t>
                </a:r>
              </a:p>
              <a:p>
                <a:pPr lvl="1"/>
                <a:r>
                  <a:rPr lang="en-US" sz="2000" dirty="0"/>
                  <a:t>We can infer that the system is safe with respect to an unsafe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⋂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endParaRPr lang="en-US" sz="20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49061A-45CB-38B6-0313-C93655EBB2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665" y="1825625"/>
                <a:ext cx="8622111" cy="4351338"/>
              </a:xfrm>
              <a:blipFill>
                <a:blip r:embed="rId3"/>
                <a:stretch>
                  <a:fillRect l="-881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67472-D96B-985A-78A9-FE7CFAFF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8FA2-60FF-9549-A2EE-930AF74BD1E9}" type="slidenum">
              <a:rPr lang="en-US" smtClean="0"/>
              <a:t>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50BA90F-2501-6A6E-7C24-3B8850C39BF1}"/>
                  </a:ext>
                </a:extLst>
              </p:cNvPr>
              <p:cNvSpPr/>
              <p:nvPr/>
            </p:nvSpPr>
            <p:spPr>
              <a:xfrm>
                <a:off x="11046907" y="1670840"/>
                <a:ext cx="1038721" cy="1000682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50BA90F-2501-6A6E-7C24-3B8850C39B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6907" y="1670840"/>
                <a:ext cx="1038721" cy="100068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F896CBA2-8A89-A105-8F1D-AF827A713061}"/>
              </a:ext>
            </a:extLst>
          </p:cNvPr>
          <p:cNvCxnSpPr>
            <a:cxnSpLocks/>
            <a:stCxn id="5" idx="5"/>
          </p:cNvCxnSpPr>
          <p:nvPr/>
        </p:nvCxnSpPr>
        <p:spPr>
          <a:xfrm rot="5400000">
            <a:off x="10720785" y="2825498"/>
            <a:ext cx="1513248" cy="9122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C99ED5-D3C6-A06F-A87C-2E28527316DD}"/>
                  </a:ext>
                </a:extLst>
              </p:cNvPr>
              <p:cNvSpPr txBox="1"/>
              <p:nvPr/>
            </p:nvSpPr>
            <p:spPr>
              <a:xfrm>
                <a:off x="10940533" y="1321356"/>
                <a:ext cx="12514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𝑛𝑖𝑡𝑖𝑎𝑙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𝑆𝑒𝑡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C99ED5-D3C6-A06F-A87C-2E2852731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0533" y="1321356"/>
                <a:ext cx="1251467" cy="369332"/>
              </a:xfrm>
              <a:prstGeom prst="rect">
                <a:avLst/>
              </a:prstGeom>
              <a:blipFill>
                <a:blip r:embed="rId5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1DB05FDB-B420-AD21-4A05-06BEA7A6C469}"/>
              </a:ext>
            </a:extLst>
          </p:cNvPr>
          <p:cNvCxnSpPr>
            <a:cxnSpLocks/>
          </p:cNvCxnSpPr>
          <p:nvPr/>
        </p:nvCxnSpPr>
        <p:spPr>
          <a:xfrm rot="5400000">
            <a:off x="9449351" y="2265375"/>
            <a:ext cx="1722069" cy="146485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24EFBC8-DBBA-15F7-19DC-46DD995C3414}"/>
                  </a:ext>
                </a:extLst>
              </p:cNvPr>
              <p:cNvSpPr/>
              <p:nvPr/>
            </p:nvSpPr>
            <p:spPr>
              <a:xfrm>
                <a:off x="8821440" y="2930707"/>
                <a:ext cx="726152" cy="633054"/>
              </a:xfrm>
              <a:prstGeom prst="rect">
                <a:avLst/>
              </a:prstGeom>
              <a:solidFill>
                <a:srgbClr val="FFC1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24EFBC8-DBBA-15F7-19DC-46DD995C34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440" y="2930707"/>
                <a:ext cx="726152" cy="633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 25">
            <a:extLst>
              <a:ext uri="{FF2B5EF4-FFF2-40B4-BE49-F238E27FC236}">
                <a16:creationId xmlns:a16="http://schemas.microsoft.com/office/drawing/2014/main" id="{D908C995-4F0A-3D6E-03B7-3B539F74ADD1}"/>
              </a:ext>
            </a:extLst>
          </p:cNvPr>
          <p:cNvSpPr/>
          <p:nvPr/>
        </p:nvSpPr>
        <p:spPr>
          <a:xfrm>
            <a:off x="9591437" y="3644095"/>
            <a:ext cx="1408549" cy="691661"/>
          </a:xfrm>
          <a:custGeom>
            <a:avLst/>
            <a:gdLst>
              <a:gd name="connsiteX0" fmla="*/ 23876 w 1408549"/>
              <a:gd name="connsiteY0" fmla="*/ 175846 h 691661"/>
              <a:gd name="connsiteX1" fmla="*/ 23876 w 1408549"/>
              <a:gd name="connsiteY1" fmla="*/ 175846 h 691661"/>
              <a:gd name="connsiteX2" fmla="*/ 199722 w 1408549"/>
              <a:gd name="connsiteY2" fmla="*/ 128954 h 691661"/>
              <a:gd name="connsiteX3" fmla="*/ 234891 w 1408549"/>
              <a:gd name="connsiteY3" fmla="*/ 93784 h 691661"/>
              <a:gd name="connsiteX4" fmla="*/ 258338 w 1408549"/>
              <a:gd name="connsiteY4" fmla="*/ 46892 h 691661"/>
              <a:gd name="connsiteX5" fmla="*/ 328676 w 1408549"/>
              <a:gd name="connsiteY5" fmla="*/ 93784 h 691661"/>
              <a:gd name="connsiteX6" fmla="*/ 363845 w 1408549"/>
              <a:gd name="connsiteY6" fmla="*/ 105508 h 691661"/>
              <a:gd name="connsiteX7" fmla="*/ 445907 w 1408549"/>
              <a:gd name="connsiteY7" fmla="*/ 140677 h 691661"/>
              <a:gd name="connsiteX8" fmla="*/ 574861 w 1408549"/>
              <a:gd name="connsiteY8" fmla="*/ 128954 h 691661"/>
              <a:gd name="connsiteX9" fmla="*/ 621753 w 1408549"/>
              <a:gd name="connsiteY9" fmla="*/ 105508 h 691661"/>
              <a:gd name="connsiteX10" fmla="*/ 656922 w 1408549"/>
              <a:gd name="connsiteY10" fmla="*/ 93784 h 691661"/>
              <a:gd name="connsiteX11" fmla="*/ 727261 w 1408549"/>
              <a:gd name="connsiteY11" fmla="*/ 46892 h 691661"/>
              <a:gd name="connsiteX12" fmla="*/ 809322 w 1408549"/>
              <a:gd name="connsiteY12" fmla="*/ 11723 h 691661"/>
              <a:gd name="connsiteX13" fmla="*/ 844491 w 1408549"/>
              <a:gd name="connsiteY13" fmla="*/ 0 h 691661"/>
              <a:gd name="connsiteX14" fmla="*/ 914830 w 1408549"/>
              <a:gd name="connsiteY14" fmla="*/ 35169 h 691661"/>
              <a:gd name="connsiteX15" fmla="*/ 973445 w 1408549"/>
              <a:gd name="connsiteY15" fmla="*/ 105508 h 691661"/>
              <a:gd name="connsiteX16" fmla="*/ 1055507 w 1408549"/>
              <a:gd name="connsiteY16" fmla="*/ 152400 h 691661"/>
              <a:gd name="connsiteX17" fmla="*/ 1184461 w 1408549"/>
              <a:gd name="connsiteY17" fmla="*/ 175846 h 691661"/>
              <a:gd name="connsiteX18" fmla="*/ 1219630 w 1408549"/>
              <a:gd name="connsiteY18" fmla="*/ 187569 h 691661"/>
              <a:gd name="connsiteX19" fmla="*/ 1289968 w 1408549"/>
              <a:gd name="connsiteY19" fmla="*/ 234461 h 691661"/>
              <a:gd name="connsiteX20" fmla="*/ 1325138 w 1408549"/>
              <a:gd name="connsiteY20" fmla="*/ 246184 h 691661"/>
              <a:gd name="connsiteX21" fmla="*/ 1348584 w 1408549"/>
              <a:gd name="connsiteY21" fmla="*/ 269631 h 691661"/>
              <a:gd name="connsiteX22" fmla="*/ 1383753 w 1408549"/>
              <a:gd name="connsiteY22" fmla="*/ 293077 h 691661"/>
              <a:gd name="connsiteX23" fmla="*/ 1407199 w 1408549"/>
              <a:gd name="connsiteY23" fmla="*/ 398584 h 691661"/>
              <a:gd name="connsiteX24" fmla="*/ 1372030 w 1408549"/>
              <a:gd name="connsiteY24" fmla="*/ 574431 h 691661"/>
              <a:gd name="connsiteX25" fmla="*/ 1336861 w 1408549"/>
              <a:gd name="connsiteY25" fmla="*/ 597877 h 691661"/>
              <a:gd name="connsiteX26" fmla="*/ 844491 w 1408549"/>
              <a:gd name="connsiteY26" fmla="*/ 597877 h 691661"/>
              <a:gd name="connsiteX27" fmla="*/ 750707 w 1408549"/>
              <a:gd name="connsiteY27" fmla="*/ 656492 h 691661"/>
              <a:gd name="connsiteX28" fmla="*/ 680368 w 1408549"/>
              <a:gd name="connsiteY28" fmla="*/ 691661 h 691661"/>
              <a:gd name="connsiteX29" fmla="*/ 610030 w 1408549"/>
              <a:gd name="connsiteY29" fmla="*/ 679938 h 691661"/>
              <a:gd name="connsiteX30" fmla="*/ 527968 w 1408549"/>
              <a:gd name="connsiteY30" fmla="*/ 656492 h 691661"/>
              <a:gd name="connsiteX31" fmla="*/ 492799 w 1408549"/>
              <a:gd name="connsiteY31" fmla="*/ 633046 h 691661"/>
              <a:gd name="connsiteX32" fmla="*/ 387291 w 1408549"/>
              <a:gd name="connsiteY32" fmla="*/ 609600 h 691661"/>
              <a:gd name="connsiteX33" fmla="*/ 352122 w 1408549"/>
              <a:gd name="connsiteY33" fmla="*/ 597877 h 691661"/>
              <a:gd name="connsiteX34" fmla="*/ 305230 w 1408549"/>
              <a:gd name="connsiteY34" fmla="*/ 586154 h 691661"/>
              <a:gd name="connsiteX35" fmla="*/ 223168 w 1408549"/>
              <a:gd name="connsiteY35" fmla="*/ 480646 h 691661"/>
              <a:gd name="connsiteX36" fmla="*/ 199722 w 1408549"/>
              <a:gd name="connsiteY36" fmla="*/ 445477 h 691661"/>
              <a:gd name="connsiteX37" fmla="*/ 129384 w 1408549"/>
              <a:gd name="connsiteY37" fmla="*/ 410308 h 691661"/>
              <a:gd name="connsiteX38" fmla="*/ 94215 w 1408549"/>
              <a:gd name="connsiteY38" fmla="*/ 386861 h 691661"/>
              <a:gd name="connsiteX39" fmla="*/ 23876 w 1408549"/>
              <a:gd name="connsiteY39" fmla="*/ 351692 h 691661"/>
              <a:gd name="connsiteX40" fmla="*/ 430 w 1408549"/>
              <a:gd name="connsiteY40" fmla="*/ 316523 h 691661"/>
              <a:gd name="connsiteX41" fmla="*/ 23876 w 1408549"/>
              <a:gd name="connsiteY41" fmla="*/ 199292 h 691661"/>
              <a:gd name="connsiteX42" fmla="*/ 23876 w 1408549"/>
              <a:gd name="connsiteY42" fmla="*/ 175846 h 691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08549" h="691661">
                <a:moveTo>
                  <a:pt x="23876" y="175846"/>
                </a:moveTo>
                <a:lnTo>
                  <a:pt x="23876" y="175846"/>
                </a:lnTo>
                <a:cubicBezTo>
                  <a:pt x="83527" y="165000"/>
                  <a:pt x="148351" y="165648"/>
                  <a:pt x="199722" y="128954"/>
                </a:cubicBezTo>
                <a:cubicBezTo>
                  <a:pt x="213213" y="119318"/>
                  <a:pt x="225255" y="107275"/>
                  <a:pt x="234891" y="93784"/>
                </a:cubicBezTo>
                <a:cubicBezTo>
                  <a:pt x="245049" y="79563"/>
                  <a:pt x="250522" y="62523"/>
                  <a:pt x="258338" y="46892"/>
                </a:cubicBezTo>
                <a:cubicBezTo>
                  <a:pt x="341958" y="74765"/>
                  <a:pt x="240866" y="35243"/>
                  <a:pt x="328676" y="93784"/>
                </a:cubicBezTo>
                <a:cubicBezTo>
                  <a:pt x="338958" y="100639"/>
                  <a:pt x="352487" y="100640"/>
                  <a:pt x="363845" y="105508"/>
                </a:cubicBezTo>
                <a:cubicBezTo>
                  <a:pt x="465236" y="148962"/>
                  <a:pt x="363439" y="113188"/>
                  <a:pt x="445907" y="140677"/>
                </a:cubicBezTo>
                <a:cubicBezTo>
                  <a:pt x="488892" y="136769"/>
                  <a:pt x="532537" y="137419"/>
                  <a:pt x="574861" y="128954"/>
                </a:cubicBezTo>
                <a:cubicBezTo>
                  <a:pt x="591997" y="125527"/>
                  <a:pt x="605690" y="112392"/>
                  <a:pt x="621753" y="105508"/>
                </a:cubicBezTo>
                <a:cubicBezTo>
                  <a:pt x="633111" y="100640"/>
                  <a:pt x="646120" y="99785"/>
                  <a:pt x="656922" y="93784"/>
                </a:cubicBezTo>
                <a:cubicBezTo>
                  <a:pt x="681555" y="80099"/>
                  <a:pt x="700528" y="55803"/>
                  <a:pt x="727261" y="46892"/>
                </a:cubicBezTo>
                <a:cubicBezTo>
                  <a:pt x="809739" y="19399"/>
                  <a:pt x="707919" y="55181"/>
                  <a:pt x="809322" y="11723"/>
                </a:cubicBezTo>
                <a:cubicBezTo>
                  <a:pt x="820680" y="6855"/>
                  <a:pt x="832768" y="3908"/>
                  <a:pt x="844491" y="0"/>
                </a:cubicBezTo>
                <a:cubicBezTo>
                  <a:pt x="873095" y="9535"/>
                  <a:pt x="892104" y="12443"/>
                  <a:pt x="914830" y="35169"/>
                </a:cubicBezTo>
                <a:cubicBezTo>
                  <a:pt x="1007041" y="127380"/>
                  <a:pt x="858219" y="9486"/>
                  <a:pt x="973445" y="105508"/>
                </a:cubicBezTo>
                <a:cubicBezTo>
                  <a:pt x="991995" y="120966"/>
                  <a:pt x="1034662" y="144583"/>
                  <a:pt x="1055507" y="152400"/>
                </a:cubicBezTo>
                <a:cubicBezTo>
                  <a:pt x="1089522" y="165156"/>
                  <a:pt x="1154507" y="171567"/>
                  <a:pt x="1184461" y="175846"/>
                </a:cubicBezTo>
                <a:cubicBezTo>
                  <a:pt x="1196184" y="179754"/>
                  <a:pt x="1208828" y="181568"/>
                  <a:pt x="1219630" y="187569"/>
                </a:cubicBezTo>
                <a:cubicBezTo>
                  <a:pt x="1244263" y="201254"/>
                  <a:pt x="1263235" y="225550"/>
                  <a:pt x="1289968" y="234461"/>
                </a:cubicBezTo>
                <a:lnTo>
                  <a:pt x="1325138" y="246184"/>
                </a:lnTo>
                <a:cubicBezTo>
                  <a:pt x="1332953" y="254000"/>
                  <a:pt x="1339953" y="262726"/>
                  <a:pt x="1348584" y="269631"/>
                </a:cubicBezTo>
                <a:cubicBezTo>
                  <a:pt x="1359586" y="278433"/>
                  <a:pt x="1374951" y="282075"/>
                  <a:pt x="1383753" y="293077"/>
                </a:cubicBezTo>
                <a:cubicBezTo>
                  <a:pt x="1395904" y="308266"/>
                  <a:pt x="1407079" y="397864"/>
                  <a:pt x="1407199" y="398584"/>
                </a:cubicBezTo>
                <a:cubicBezTo>
                  <a:pt x="1399123" y="503571"/>
                  <a:pt x="1430527" y="527632"/>
                  <a:pt x="1372030" y="574431"/>
                </a:cubicBezTo>
                <a:cubicBezTo>
                  <a:pt x="1361028" y="583233"/>
                  <a:pt x="1348584" y="590062"/>
                  <a:pt x="1336861" y="597877"/>
                </a:cubicBezTo>
                <a:cubicBezTo>
                  <a:pt x="1135658" y="586042"/>
                  <a:pt x="1063469" y="575224"/>
                  <a:pt x="844491" y="597877"/>
                </a:cubicBezTo>
                <a:cubicBezTo>
                  <a:pt x="818727" y="600542"/>
                  <a:pt x="768419" y="643840"/>
                  <a:pt x="750707" y="656492"/>
                </a:cubicBezTo>
                <a:cubicBezTo>
                  <a:pt x="710937" y="684899"/>
                  <a:pt x="723921" y="677144"/>
                  <a:pt x="680368" y="691661"/>
                </a:cubicBezTo>
                <a:cubicBezTo>
                  <a:pt x="656922" y="687753"/>
                  <a:pt x="633338" y="684600"/>
                  <a:pt x="610030" y="679938"/>
                </a:cubicBezTo>
                <a:cubicBezTo>
                  <a:pt x="573231" y="672578"/>
                  <a:pt x="561487" y="667665"/>
                  <a:pt x="527968" y="656492"/>
                </a:cubicBezTo>
                <a:cubicBezTo>
                  <a:pt x="516245" y="648677"/>
                  <a:pt x="505749" y="638596"/>
                  <a:pt x="492799" y="633046"/>
                </a:cubicBezTo>
                <a:cubicBezTo>
                  <a:pt x="475950" y="625825"/>
                  <a:pt x="400645" y="612938"/>
                  <a:pt x="387291" y="609600"/>
                </a:cubicBezTo>
                <a:cubicBezTo>
                  <a:pt x="375303" y="606603"/>
                  <a:pt x="364004" y="601272"/>
                  <a:pt x="352122" y="597877"/>
                </a:cubicBezTo>
                <a:cubicBezTo>
                  <a:pt x="336630" y="593451"/>
                  <a:pt x="320861" y="590062"/>
                  <a:pt x="305230" y="586154"/>
                </a:cubicBezTo>
                <a:cubicBezTo>
                  <a:pt x="250137" y="531059"/>
                  <a:pt x="279256" y="564777"/>
                  <a:pt x="223168" y="480646"/>
                </a:cubicBezTo>
                <a:cubicBezTo>
                  <a:pt x="215353" y="468923"/>
                  <a:pt x="211445" y="453292"/>
                  <a:pt x="199722" y="445477"/>
                </a:cubicBezTo>
                <a:cubicBezTo>
                  <a:pt x="154271" y="415176"/>
                  <a:pt x="177919" y="426486"/>
                  <a:pt x="129384" y="410308"/>
                </a:cubicBezTo>
                <a:cubicBezTo>
                  <a:pt x="117661" y="402492"/>
                  <a:pt x="106817" y="393162"/>
                  <a:pt x="94215" y="386861"/>
                </a:cubicBezTo>
                <a:cubicBezTo>
                  <a:pt x="-2865" y="338321"/>
                  <a:pt x="124673" y="418890"/>
                  <a:pt x="23876" y="351692"/>
                </a:cubicBezTo>
                <a:cubicBezTo>
                  <a:pt x="16061" y="339969"/>
                  <a:pt x="1832" y="330542"/>
                  <a:pt x="430" y="316523"/>
                </a:cubicBezTo>
                <a:cubicBezTo>
                  <a:pt x="-2589" y="286329"/>
                  <a:pt x="10790" y="232008"/>
                  <a:pt x="23876" y="199292"/>
                </a:cubicBezTo>
                <a:cubicBezTo>
                  <a:pt x="27121" y="191179"/>
                  <a:pt x="23876" y="179754"/>
                  <a:pt x="23876" y="17584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472F30C1-09CA-D17A-6D35-7A301B1E398E}"/>
              </a:ext>
            </a:extLst>
          </p:cNvPr>
          <p:cNvCxnSpPr>
            <a:cxnSpLocks/>
          </p:cNvCxnSpPr>
          <p:nvPr/>
        </p:nvCxnSpPr>
        <p:spPr>
          <a:xfrm rot="5400000">
            <a:off x="10201319" y="2735805"/>
            <a:ext cx="1513248" cy="9122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463F9E1-6168-D0D9-8AB1-BC9EF8DB0AF8}"/>
                  </a:ext>
                </a:extLst>
              </p:cNvPr>
              <p:cNvSpPr txBox="1"/>
              <p:nvPr/>
            </p:nvSpPr>
            <p:spPr>
              <a:xfrm>
                <a:off x="10181026" y="3139799"/>
                <a:ext cx="10315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en-US" b="0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463F9E1-6168-D0D9-8AB1-BC9EF8DB0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1026" y="3139799"/>
                <a:ext cx="1031557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B11DA2-29F6-457B-06B6-90E5A6C6F128}"/>
                  </a:ext>
                </a:extLst>
              </p:cNvPr>
              <p:cNvSpPr txBox="1"/>
              <p:nvPr/>
            </p:nvSpPr>
            <p:spPr>
              <a:xfrm>
                <a:off x="9318347" y="4386870"/>
                <a:ext cx="23669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𝑅𝑒𝑎𝑐h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B11DA2-29F6-457B-06B6-90E5A6C6F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8347" y="4386870"/>
                <a:ext cx="23669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EC46D-5B86-C850-D8EB-B6F5093C9E0D}"/>
                  </a:ext>
                </a:extLst>
              </p:cNvPr>
              <p:cNvSpPr txBox="1"/>
              <p:nvPr/>
            </p:nvSpPr>
            <p:spPr>
              <a:xfrm>
                <a:off x="11107277" y="3561053"/>
                <a:ext cx="7694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EC46D-5B86-C850-D8EB-B6F5093C9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7277" y="3561053"/>
                <a:ext cx="76943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4790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664"/>
    </mc:Choice>
    <mc:Fallback xmlns="">
      <p:transition spd="slow" advTm="926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8" grpId="0"/>
      <p:bldP spid="1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325D-66DA-4891-2C6E-F4F31FDC1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Non-smooth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48EE7-3BDA-F9F2-8F90-13635F95CE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Non-smooth functions:</a:t>
                </a:r>
              </a:p>
              <a:p>
                <a:pPr lvl="1"/>
                <a:r>
                  <a:rPr lang="en-US" altLang="zh-CN" dirty="0"/>
                  <a:t>Definition: functions that are continuous but not differentiable across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For example: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𝑟𝑒𝑙𝑢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Non-smooth systems:</a:t>
                </a:r>
              </a:p>
              <a:p>
                <a:pPr lvl="1"/>
                <a:r>
                  <a:rPr lang="en-US" dirty="0"/>
                  <a:t>Definition: Systems whose dynamics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a non-smooth function</a:t>
                </a:r>
              </a:p>
              <a:p>
                <a:pPr lvl="1"/>
                <a:r>
                  <a:rPr lang="en-US" b="1" dirty="0"/>
                  <a:t>Switch System: 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A system where switching occurs based on max or min conditions. E.g.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⁡(</m:t>
                    </m:r>
                    <m:sSubSup>
                      <m:sSubSupPr>
                        <m:ctrlP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u="none" strike="noStrike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 err="1"/>
                  <a:t>ReLU</a:t>
                </a:r>
                <a:r>
                  <a:rPr lang="en-US" b="1" dirty="0"/>
                  <a:t> Neural ODE</a:t>
                </a:r>
                <a:r>
                  <a:rPr lang="en-US" dirty="0"/>
                  <a:t>: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A neural ODE using </a:t>
                </a:r>
                <a:r>
                  <a:rPr lang="en-US" b="0" i="0" u="none" strike="noStrike" dirty="0" err="1">
                    <a:solidFill>
                      <a:srgbClr val="000000"/>
                    </a:solidFill>
                    <a:effectLst/>
                    <a:latin typeface="-webkit-standard"/>
                  </a:rPr>
                  <a:t>ReLU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activations to approximate an unknown true ODE.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48EE7-3BDA-F9F2-8F90-13635F95CE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85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DD4B4-081C-96A1-6B3D-FCEE468C6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Lexicographic Jacobian for single input and single output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78E671-0742-788E-C1ED-4F207CDC9F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224" y="1632504"/>
                <a:ext cx="113538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Directional Derivative: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  <a:p>
                <a:r>
                  <a:rPr lang="en-US" b="0" dirty="0">
                    <a:ea typeface="Cambria Math" panose="02040503050406030204" pitchFamily="18" charset="0"/>
                  </a:rPr>
                  <a:t>Lexicographic Sub-differentials: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≠0}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{0,1}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L-smooth function: continuous function that has directional derivative for for all directions at non-differentiable state.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78E671-0742-788E-C1ED-4F207CDC9F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224" y="1632504"/>
                <a:ext cx="11353800" cy="4667250"/>
              </a:xfrm>
              <a:blipFill>
                <a:blip r:embed="rId3"/>
                <a:stretch>
                  <a:fillRect l="-8492" t="-43478" b="-52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71E10BD-7C81-DC31-1076-09A4D9163F04}"/>
              </a:ext>
            </a:extLst>
          </p:cNvPr>
          <p:cNvSpPr txBox="1"/>
          <p:nvPr/>
        </p:nvSpPr>
        <p:spPr>
          <a:xfrm>
            <a:off x="705224" y="6509113"/>
            <a:ext cx="10648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dirty="0">
                <a:solidFill>
                  <a:srgbClr val="222222"/>
                </a:solidFill>
                <a:effectLst/>
              </a:rPr>
              <a:t>[1] Nesterov, Y. (2005). Lexicographic differentiation of </a:t>
            </a:r>
            <a:r>
              <a:rPr lang="en-US" sz="1600" b="0" i="0" u="none" strike="noStrike" dirty="0" err="1">
                <a:solidFill>
                  <a:srgbClr val="222222"/>
                </a:solidFill>
                <a:effectLst/>
              </a:rPr>
              <a:t>nonsmooth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</a:rPr>
              <a:t> functions. </a:t>
            </a:r>
            <a:r>
              <a:rPr lang="en-US" sz="1600" b="0" i="1" u="none" strike="noStrike" dirty="0">
                <a:solidFill>
                  <a:srgbClr val="222222"/>
                </a:solidFill>
                <a:effectLst/>
              </a:rPr>
              <a:t>Mathematical programming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</a:rPr>
              <a:t>, </a:t>
            </a:r>
            <a:r>
              <a:rPr lang="en-US" sz="1600" b="0" i="1" u="none" strike="noStrike" dirty="0">
                <a:solidFill>
                  <a:srgbClr val="222222"/>
                </a:solidFill>
                <a:effectLst/>
              </a:rPr>
              <a:t>104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</a:rPr>
              <a:t>, 669-700.</a:t>
            </a:r>
            <a:endParaRPr lang="en-US" sz="16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B53D92-5157-89E1-F8BC-A955A84EAE1E}"/>
              </a:ext>
            </a:extLst>
          </p:cNvPr>
          <p:cNvGrpSpPr/>
          <p:nvPr/>
        </p:nvGrpSpPr>
        <p:grpSpPr>
          <a:xfrm>
            <a:off x="6559277" y="2898533"/>
            <a:ext cx="3059970" cy="1846840"/>
            <a:chOff x="8293830" y="2505580"/>
            <a:chExt cx="3059970" cy="1846840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253C4F9-473A-D107-9A61-92ED19DA79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830" y="3756423"/>
              <a:ext cx="2481048" cy="1035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84A84A1-2808-7213-1BEF-31933F717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3788" y="2831139"/>
              <a:ext cx="0" cy="152128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FCA284B-E0F4-1522-6A78-0530F876DD11}"/>
                </a:ext>
              </a:extLst>
            </p:cNvPr>
            <p:cNvCxnSpPr>
              <a:cxnSpLocks/>
            </p:cNvCxnSpPr>
            <p:nvPr/>
          </p:nvCxnSpPr>
          <p:spPr>
            <a:xfrm>
              <a:off x="8293830" y="3756423"/>
              <a:ext cx="1099958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5C23FC-E6B7-2FCD-55BD-94FDADC79C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7966" y="2933148"/>
              <a:ext cx="797989" cy="83362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CE4EF97-ACE1-0ED7-F6E8-D317BC6180EC}"/>
                    </a:ext>
                  </a:extLst>
                </p:cNvPr>
                <p:cNvSpPr txBox="1"/>
                <p:nvPr/>
              </p:nvSpPr>
              <p:spPr>
                <a:xfrm>
                  <a:off x="10195955" y="3853589"/>
                  <a:ext cx="11578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CE4EF97-ACE1-0ED7-F6E8-D317BC618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5955" y="3853589"/>
                  <a:ext cx="11578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3642DBB-4B24-AF5F-27D2-FE8995681669}"/>
                    </a:ext>
                  </a:extLst>
                </p:cNvPr>
                <p:cNvSpPr txBox="1"/>
                <p:nvPr/>
              </p:nvSpPr>
              <p:spPr>
                <a:xfrm>
                  <a:off x="9395564" y="2505580"/>
                  <a:ext cx="6887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𝑹𝒆𝑳𝑼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3642DBB-4B24-AF5F-27D2-FE8995681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5564" y="2505580"/>
                  <a:ext cx="688769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58182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C6D5D1D-8075-E813-B4E8-FE777E7492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93788" y="3240925"/>
              <a:ext cx="523840" cy="3764"/>
            </a:xfrm>
            <a:prstGeom prst="line">
              <a:avLst/>
            </a:prstGeom>
            <a:ln w="285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BDD2B85-A3E4-8CB4-D692-C68CCFB72346}"/>
                </a:ext>
              </a:extLst>
            </p:cNvPr>
            <p:cNvCxnSpPr>
              <a:cxnSpLocks/>
            </p:cNvCxnSpPr>
            <p:nvPr/>
          </p:nvCxnSpPr>
          <p:spPr>
            <a:xfrm>
              <a:off x="9917628" y="3240925"/>
              <a:ext cx="0" cy="515498"/>
            </a:xfrm>
            <a:prstGeom prst="line">
              <a:avLst/>
            </a:prstGeom>
            <a:ln w="285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BB33347-AFBA-3FE0-DAF9-01B3EFCDE36C}"/>
                    </a:ext>
                  </a:extLst>
                </p:cNvPr>
                <p:cNvSpPr txBox="1"/>
                <p:nvPr/>
              </p:nvSpPr>
              <p:spPr>
                <a:xfrm>
                  <a:off x="8845585" y="3061318"/>
                  <a:ext cx="6887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BB33347-AFBA-3FE0-DAF9-01B3EFCDE3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5585" y="3061318"/>
                  <a:ext cx="688769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1A452AA-DF20-A606-C3C9-09A768C3E8CA}"/>
                    </a:ext>
                  </a:extLst>
                </p:cNvPr>
                <p:cNvSpPr txBox="1"/>
                <p:nvPr/>
              </p:nvSpPr>
              <p:spPr>
                <a:xfrm>
                  <a:off x="9573243" y="3816508"/>
                  <a:ext cx="6887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1A452AA-DF20-A606-C3C9-09A768C3E8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3243" y="3816508"/>
                  <a:ext cx="688769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FE178B4-21F0-0A1D-66A8-A0603FC3EA92}"/>
                    </a:ext>
                  </a:extLst>
                </p:cNvPr>
                <p:cNvSpPr txBox="1"/>
                <p:nvPr/>
              </p:nvSpPr>
              <p:spPr>
                <a:xfrm>
                  <a:off x="8833773" y="3813132"/>
                  <a:ext cx="6887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FE178B4-21F0-0A1D-66A8-A0603FC3EA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3773" y="3813132"/>
                  <a:ext cx="688769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BDF3E92-2C00-3F75-EB47-192466AC20EE}"/>
              </a:ext>
            </a:extLst>
          </p:cNvPr>
          <p:cNvGrpSpPr/>
          <p:nvPr/>
        </p:nvGrpSpPr>
        <p:grpSpPr>
          <a:xfrm>
            <a:off x="9263568" y="2855432"/>
            <a:ext cx="2716479" cy="1813231"/>
            <a:chOff x="8448245" y="2718665"/>
            <a:chExt cx="2716479" cy="1813231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3E14B53-5EE7-9DB3-225D-100AC8E9610E}"/>
                </a:ext>
              </a:extLst>
            </p:cNvPr>
            <p:cNvCxnSpPr>
              <a:cxnSpLocks/>
            </p:cNvCxnSpPr>
            <p:nvPr/>
          </p:nvCxnSpPr>
          <p:spPr>
            <a:xfrm>
              <a:off x="8448245" y="3967964"/>
              <a:ext cx="212311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92100E5-0C70-8399-7D94-4BAAF50A90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7023" y="3042680"/>
              <a:ext cx="0" cy="148921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B943998-49EC-3AF5-67A4-7315D672AD5D}"/>
                </a:ext>
              </a:extLst>
            </p:cNvPr>
            <p:cNvCxnSpPr/>
            <p:nvPr/>
          </p:nvCxnSpPr>
          <p:spPr>
            <a:xfrm>
              <a:off x="8448245" y="3967964"/>
              <a:ext cx="1056903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5E42C50-9C9E-5934-37AB-3886A74782D8}"/>
                </a:ext>
              </a:extLst>
            </p:cNvPr>
            <p:cNvCxnSpPr>
              <a:cxnSpLocks/>
            </p:cNvCxnSpPr>
            <p:nvPr/>
          </p:nvCxnSpPr>
          <p:spPr>
            <a:xfrm>
              <a:off x="9545266" y="3481319"/>
              <a:ext cx="628399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2FDF530-A1EB-ABDA-6800-4A23539EE94D}"/>
                    </a:ext>
                  </a:extLst>
                </p:cNvPr>
                <p:cNvSpPr txBox="1"/>
                <p:nvPr/>
              </p:nvSpPr>
              <p:spPr>
                <a:xfrm>
                  <a:off x="10006879" y="4017140"/>
                  <a:ext cx="11578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2FDF530-A1EB-ABDA-6800-4A23539EE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6879" y="4017140"/>
                  <a:ext cx="115784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753A13E-C1B3-538D-4EA5-EFB7424A5737}"/>
                    </a:ext>
                  </a:extLst>
                </p:cNvPr>
                <p:cNvSpPr txBox="1"/>
                <p:nvPr/>
              </p:nvSpPr>
              <p:spPr>
                <a:xfrm>
                  <a:off x="9517023" y="2718665"/>
                  <a:ext cx="6887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𝑹𝒆𝑳𝑼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753A13E-C1B3-538D-4EA5-EFB7424A57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7023" y="2718665"/>
                  <a:ext cx="688769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101818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1EEF616-337A-4850-B06A-E099280019E5}"/>
                    </a:ext>
                  </a:extLst>
                </p:cNvPr>
                <p:cNvSpPr txBox="1"/>
                <p:nvPr/>
              </p:nvSpPr>
              <p:spPr>
                <a:xfrm>
                  <a:off x="8976696" y="3242123"/>
                  <a:ext cx="6887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1EEF616-337A-4850-B06A-E09928001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6696" y="3242123"/>
                  <a:ext cx="688769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D198A9B-164F-9500-BE90-F414806FF71B}"/>
                </a:ext>
              </a:extLst>
            </p:cNvPr>
            <p:cNvSpPr/>
            <p:nvPr/>
          </p:nvSpPr>
          <p:spPr>
            <a:xfrm>
              <a:off x="9476572" y="3438455"/>
              <a:ext cx="97257" cy="8572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A2532E3-6AE5-5E00-6354-D45362E6E989}"/>
                </a:ext>
              </a:extLst>
            </p:cNvPr>
            <p:cNvSpPr/>
            <p:nvPr/>
          </p:nvSpPr>
          <p:spPr>
            <a:xfrm>
              <a:off x="9457516" y="3919474"/>
              <a:ext cx="97257" cy="8572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7897A3C-A9FB-8EE0-A5E1-F67435482DEA}"/>
                    </a:ext>
                  </a:extLst>
                </p:cNvPr>
                <p:cNvSpPr txBox="1"/>
                <p:nvPr/>
              </p:nvSpPr>
              <p:spPr>
                <a:xfrm>
                  <a:off x="8969523" y="4007968"/>
                  <a:ext cx="6887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7897A3C-A9FB-8EE0-A5E1-F67435482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9523" y="4007968"/>
                  <a:ext cx="688769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6855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A0A23-6F30-8C92-CE95-42E1A104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Function Bounding Distance between Two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5E2B3-1ED6-8230-6102-440543E8D1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4355"/>
                <a:ext cx="11000514" cy="468851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Sensitivity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Theorem 1: </a:t>
                </a:r>
                <a:r>
                  <a:rPr lang="en-US" sz="2600" dirty="0"/>
                  <a:t>Given L-smooth function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600" dirty="0"/>
                  <a:t>,  initial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, if :</a:t>
                </a:r>
              </a:p>
              <a:p>
                <a:pPr lvl="1"/>
                <a:r>
                  <a:rPr lang="en-US" dirty="0"/>
                  <a:t>t</a:t>
                </a:r>
                <a:r>
                  <a:rPr lang="en-US" b="0" dirty="0"/>
                  <a:t>here exists </a:t>
                </a:r>
                <a:r>
                  <a:rPr lang="en-US" dirty="0"/>
                  <a:t>a compact convex 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0" dirty="0"/>
                  <a:t>,</a:t>
                </a: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t</a:t>
                </a:r>
                <a:r>
                  <a:rPr lang="en-US" b="0" dirty="0">
                    <a:ea typeface="Cambria Math" panose="02040503050406030204" pitchFamily="18" charset="0"/>
                  </a:rPr>
                  <a:t>here exists a convex superset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</a:t>
                </a:r>
              </a:p>
              <a:p>
                <a:pPr lvl="1"/>
                <a:r>
                  <a:rPr lang="en-US" dirty="0"/>
                  <a:t>there exists a positive definite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a real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≼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sz="2400" dirty="0"/>
                  <a:t>Then,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(0)∈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  <m:sup/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5E2B3-1ED6-8230-6102-440543E8D1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4355"/>
                <a:ext cx="11000514" cy="4688519"/>
              </a:xfrm>
              <a:blipFill>
                <a:blip r:embed="rId2"/>
                <a:stretch>
                  <a:fillRect l="-923" t="-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E1E4FDCA-6264-FB32-A8E9-46E75483C9A1}"/>
              </a:ext>
            </a:extLst>
          </p:cNvPr>
          <p:cNvGrpSpPr/>
          <p:nvPr/>
        </p:nvGrpSpPr>
        <p:grpSpPr>
          <a:xfrm>
            <a:off x="9305128" y="365125"/>
            <a:ext cx="2886872" cy="3307671"/>
            <a:chOff x="9082241" y="150520"/>
            <a:chExt cx="2886872" cy="33076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DC8EE41-0A4B-BD63-B93B-AB93446A9E9A}"/>
                    </a:ext>
                  </a:extLst>
                </p:cNvPr>
                <p:cNvSpPr txBox="1"/>
                <p:nvPr/>
              </p:nvSpPr>
              <p:spPr>
                <a:xfrm>
                  <a:off x="10235871" y="3022572"/>
                  <a:ext cx="166213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𝑅𝑒𝑎𝑐h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𝑆𝑒𝑡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DC8EE41-0A4B-BD63-B93B-AB93446A9E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5871" y="3022572"/>
                  <a:ext cx="1662137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5058AFB-6D06-DEB4-AE6C-1C19D213AB98}"/>
                </a:ext>
              </a:extLst>
            </p:cNvPr>
            <p:cNvGrpSpPr/>
            <p:nvPr/>
          </p:nvGrpSpPr>
          <p:grpSpPr>
            <a:xfrm>
              <a:off x="9082241" y="150520"/>
              <a:ext cx="2886872" cy="3307671"/>
              <a:chOff x="8631122" y="478172"/>
              <a:chExt cx="2886872" cy="3307671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582594F-EE41-1010-4758-53B3BFDCBA71}"/>
                  </a:ext>
                </a:extLst>
              </p:cNvPr>
              <p:cNvSpPr/>
              <p:nvPr/>
            </p:nvSpPr>
            <p:spPr>
              <a:xfrm>
                <a:off x="8631122" y="2648547"/>
                <a:ext cx="1495106" cy="1137296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B84B945-D5A4-33D6-774A-783C51F93D87}"/>
                  </a:ext>
                </a:extLst>
              </p:cNvPr>
              <p:cNvSpPr/>
              <p:nvPr/>
            </p:nvSpPr>
            <p:spPr>
              <a:xfrm>
                <a:off x="10126228" y="898110"/>
                <a:ext cx="1038721" cy="1000682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" name="Curved Connector 4">
                <a:extLst>
                  <a:ext uri="{FF2B5EF4-FFF2-40B4-BE49-F238E27FC236}">
                    <a16:creationId xmlns:a16="http://schemas.microsoft.com/office/drawing/2014/main" id="{ECB10F5F-33C1-20DB-199F-E2542D62620D}"/>
                  </a:ext>
                </a:extLst>
              </p:cNvPr>
              <p:cNvCxnSpPr>
                <a:cxnSpLocks/>
                <a:stCxn id="4" idx="5"/>
              </p:cNvCxnSpPr>
              <p:nvPr/>
            </p:nvCxnSpPr>
            <p:spPr>
              <a:xfrm rot="5400000">
                <a:off x="9800106" y="2052768"/>
                <a:ext cx="1513248" cy="912204"/>
              </a:xfrm>
              <a:prstGeom prst="curved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D8743ED9-0308-761A-2E8D-32FEE803A728}"/>
                      </a:ext>
                    </a:extLst>
                  </p:cNvPr>
                  <p:cNvSpPr txBox="1"/>
                  <p:nvPr/>
                </p:nvSpPr>
                <p:spPr>
                  <a:xfrm>
                    <a:off x="10250838" y="478172"/>
                    <a:ext cx="125146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𝑛𝑖𝑡𝑖𝑎𝑙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𝑆𝑒𝑡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D8743ED9-0308-761A-2E8D-32FEE803A7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50838" y="478172"/>
                    <a:ext cx="125146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B6328BF3-CC01-AD2C-BD99-CB74D1214F1D}"/>
                  </a:ext>
                </a:extLst>
              </p:cNvPr>
              <p:cNvSpPr/>
              <p:nvPr/>
            </p:nvSpPr>
            <p:spPr>
              <a:xfrm>
                <a:off x="8670758" y="2871365"/>
                <a:ext cx="1408549" cy="691661"/>
              </a:xfrm>
              <a:custGeom>
                <a:avLst/>
                <a:gdLst>
                  <a:gd name="connsiteX0" fmla="*/ 23876 w 1408549"/>
                  <a:gd name="connsiteY0" fmla="*/ 175846 h 691661"/>
                  <a:gd name="connsiteX1" fmla="*/ 23876 w 1408549"/>
                  <a:gd name="connsiteY1" fmla="*/ 175846 h 691661"/>
                  <a:gd name="connsiteX2" fmla="*/ 199722 w 1408549"/>
                  <a:gd name="connsiteY2" fmla="*/ 128954 h 691661"/>
                  <a:gd name="connsiteX3" fmla="*/ 234891 w 1408549"/>
                  <a:gd name="connsiteY3" fmla="*/ 93784 h 691661"/>
                  <a:gd name="connsiteX4" fmla="*/ 258338 w 1408549"/>
                  <a:gd name="connsiteY4" fmla="*/ 46892 h 691661"/>
                  <a:gd name="connsiteX5" fmla="*/ 328676 w 1408549"/>
                  <a:gd name="connsiteY5" fmla="*/ 93784 h 691661"/>
                  <a:gd name="connsiteX6" fmla="*/ 363845 w 1408549"/>
                  <a:gd name="connsiteY6" fmla="*/ 105508 h 691661"/>
                  <a:gd name="connsiteX7" fmla="*/ 445907 w 1408549"/>
                  <a:gd name="connsiteY7" fmla="*/ 140677 h 691661"/>
                  <a:gd name="connsiteX8" fmla="*/ 574861 w 1408549"/>
                  <a:gd name="connsiteY8" fmla="*/ 128954 h 691661"/>
                  <a:gd name="connsiteX9" fmla="*/ 621753 w 1408549"/>
                  <a:gd name="connsiteY9" fmla="*/ 105508 h 691661"/>
                  <a:gd name="connsiteX10" fmla="*/ 656922 w 1408549"/>
                  <a:gd name="connsiteY10" fmla="*/ 93784 h 691661"/>
                  <a:gd name="connsiteX11" fmla="*/ 727261 w 1408549"/>
                  <a:gd name="connsiteY11" fmla="*/ 46892 h 691661"/>
                  <a:gd name="connsiteX12" fmla="*/ 809322 w 1408549"/>
                  <a:gd name="connsiteY12" fmla="*/ 11723 h 691661"/>
                  <a:gd name="connsiteX13" fmla="*/ 844491 w 1408549"/>
                  <a:gd name="connsiteY13" fmla="*/ 0 h 691661"/>
                  <a:gd name="connsiteX14" fmla="*/ 914830 w 1408549"/>
                  <a:gd name="connsiteY14" fmla="*/ 35169 h 691661"/>
                  <a:gd name="connsiteX15" fmla="*/ 973445 w 1408549"/>
                  <a:gd name="connsiteY15" fmla="*/ 105508 h 691661"/>
                  <a:gd name="connsiteX16" fmla="*/ 1055507 w 1408549"/>
                  <a:gd name="connsiteY16" fmla="*/ 152400 h 691661"/>
                  <a:gd name="connsiteX17" fmla="*/ 1184461 w 1408549"/>
                  <a:gd name="connsiteY17" fmla="*/ 175846 h 691661"/>
                  <a:gd name="connsiteX18" fmla="*/ 1219630 w 1408549"/>
                  <a:gd name="connsiteY18" fmla="*/ 187569 h 691661"/>
                  <a:gd name="connsiteX19" fmla="*/ 1289968 w 1408549"/>
                  <a:gd name="connsiteY19" fmla="*/ 234461 h 691661"/>
                  <a:gd name="connsiteX20" fmla="*/ 1325138 w 1408549"/>
                  <a:gd name="connsiteY20" fmla="*/ 246184 h 691661"/>
                  <a:gd name="connsiteX21" fmla="*/ 1348584 w 1408549"/>
                  <a:gd name="connsiteY21" fmla="*/ 269631 h 691661"/>
                  <a:gd name="connsiteX22" fmla="*/ 1383753 w 1408549"/>
                  <a:gd name="connsiteY22" fmla="*/ 293077 h 691661"/>
                  <a:gd name="connsiteX23" fmla="*/ 1407199 w 1408549"/>
                  <a:gd name="connsiteY23" fmla="*/ 398584 h 691661"/>
                  <a:gd name="connsiteX24" fmla="*/ 1372030 w 1408549"/>
                  <a:gd name="connsiteY24" fmla="*/ 574431 h 691661"/>
                  <a:gd name="connsiteX25" fmla="*/ 1336861 w 1408549"/>
                  <a:gd name="connsiteY25" fmla="*/ 597877 h 691661"/>
                  <a:gd name="connsiteX26" fmla="*/ 844491 w 1408549"/>
                  <a:gd name="connsiteY26" fmla="*/ 597877 h 691661"/>
                  <a:gd name="connsiteX27" fmla="*/ 750707 w 1408549"/>
                  <a:gd name="connsiteY27" fmla="*/ 656492 h 691661"/>
                  <a:gd name="connsiteX28" fmla="*/ 680368 w 1408549"/>
                  <a:gd name="connsiteY28" fmla="*/ 691661 h 691661"/>
                  <a:gd name="connsiteX29" fmla="*/ 610030 w 1408549"/>
                  <a:gd name="connsiteY29" fmla="*/ 679938 h 691661"/>
                  <a:gd name="connsiteX30" fmla="*/ 527968 w 1408549"/>
                  <a:gd name="connsiteY30" fmla="*/ 656492 h 691661"/>
                  <a:gd name="connsiteX31" fmla="*/ 492799 w 1408549"/>
                  <a:gd name="connsiteY31" fmla="*/ 633046 h 691661"/>
                  <a:gd name="connsiteX32" fmla="*/ 387291 w 1408549"/>
                  <a:gd name="connsiteY32" fmla="*/ 609600 h 691661"/>
                  <a:gd name="connsiteX33" fmla="*/ 352122 w 1408549"/>
                  <a:gd name="connsiteY33" fmla="*/ 597877 h 691661"/>
                  <a:gd name="connsiteX34" fmla="*/ 305230 w 1408549"/>
                  <a:gd name="connsiteY34" fmla="*/ 586154 h 691661"/>
                  <a:gd name="connsiteX35" fmla="*/ 223168 w 1408549"/>
                  <a:gd name="connsiteY35" fmla="*/ 480646 h 691661"/>
                  <a:gd name="connsiteX36" fmla="*/ 199722 w 1408549"/>
                  <a:gd name="connsiteY36" fmla="*/ 445477 h 691661"/>
                  <a:gd name="connsiteX37" fmla="*/ 129384 w 1408549"/>
                  <a:gd name="connsiteY37" fmla="*/ 410308 h 691661"/>
                  <a:gd name="connsiteX38" fmla="*/ 94215 w 1408549"/>
                  <a:gd name="connsiteY38" fmla="*/ 386861 h 691661"/>
                  <a:gd name="connsiteX39" fmla="*/ 23876 w 1408549"/>
                  <a:gd name="connsiteY39" fmla="*/ 351692 h 691661"/>
                  <a:gd name="connsiteX40" fmla="*/ 430 w 1408549"/>
                  <a:gd name="connsiteY40" fmla="*/ 316523 h 691661"/>
                  <a:gd name="connsiteX41" fmla="*/ 23876 w 1408549"/>
                  <a:gd name="connsiteY41" fmla="*/ 199292 h 691661"/>
                  <a:gd name="connsiteX42" fmla="*/ 23876 w 1408549"/>
                  <a:gd name="connsiteY42" fmla="*/ 175846 h 691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408549" h="691661">
                    <a:moveTo>
                      <a:pt x="23876" y="175846"/>
                    </a:moveTo>
                    <a:lnTo>
                      <a:pt x="23876" y="175846"/>
                    </a:lnTo>
                    <a:cubicBezTo>
                      <a:pt x="83527" y="165000"/>
                      <a:pt x="148351" y="165648"/>
                      <a:pt x="199722" y="128954"/>
                    </a:cubicBezTo>
                    <a:cubicBezTo>
                      <a:pt x="213213" y="119318"/>
                      <a:pt x="225255" y="107275"/>
                      <a:pt x="234891" y="93784"/>
                    </a:cubicBezTo>
                    <a:cubicBezTo>
                      <a:pt x="245049" y="79563"/>
                      <a:pt x="250522" y="62523"/>
                      <a:pt x="258338" y="46892"/>
                    </a:cubicBezTo>
                    <a:cubicBezTo>
                      <a:pt x="341958" y="74765"/>
                      <a:pt x="240866" y="35243"/>
                      <a:pt x="328676" y="93784"/>
                    </a:cubicBezTo>
                    <a:cubicBezTo>
                      <a:pt x="338958" y="100639"/>
                      <a:pt x="352487" y="100640"/>
                      <a:pt x="363845" y="105508"/>
                    </a:cubicBezTo>
                    <a:cubicBezTo>
                      <a:pt x="465236" y="148962"/>
                      <a:pt x="363439" y="113188"/>
                      <a:pt x="445907" y="140677"/>
                    </a:cubicBezTo>
                    <a:cubicBezTo>
                      <a:pt x="488892" y="136769"/>
                      <a:pt x="532537" y="137419"/>
                      <a:pt x="574861" y="128954"/>
                    </a:cubicBezTo>
                    <a:cubicBezTo>
                      <a:pt x="591997" y="125527"/>
                      <a:pt x="605690" y="112392"/>
                      <a:pt x="621753" y="105508"/>
                    </a:cubicBezTo>
                    <a:cubicBezTo>
                      <a:pt x="633111" y="100640"/>
                      <a:pt x="646120" y="99785"/>
                      <a:pt x="656922" y="93784"/>
                    </a:cubicBezTo>
                    <a:cubicBezTo>
                      <a:pt x="681555" y="80099"/>
                      <a:pt x="700528" y="55803"/>
                      <a:pt x="727261" y="46892"/>
                    </a:cubicBezTo>
                    <a:cubicBezTo>
                      <a:pt x="809739" y="19399"/>
                      <a:pt x="707919" y="55181"/>
                      <a:pt x="809322" y="11723"/>
                    </a:cubicBezTo>
                    <a:cubicBezTo>
                      <a:pt x="820680" y="6855"/>
                      <a:pt x="832768" y="3908"/>
                      <a:pt x="844491" y="0"/>
                    </a:cubicBezTo>
                    <a:cubicBezTo>
                      <a:pt x="873095" y="9535"/>
                      <a:pt x="892104" y="12443"/>
                      <a:pt x="914830" y="35169"/>
                    </a:cubicBezTo>
                    <a:cubicBezTo>
                      <a:pt x="1007041" y="127380"/>
                      <a:pt x="858219" y="9486"/>
                      <a:pt x="973445" y="105508"/>
                    </a:cubicBezTo>
                    <a:cubicBezTo>
                      <a:pt x="991995" y="120966"/>
                      <a:pt x="1034662" y="144583"/>
                      <a:pt x="1055507" y="152400"/>
                    </a:cubicBezTo>
                    <a:cubicBezTo>
                      <a:pt x="1089522" y="165156"/>
                      <a:pt x="1154507" y="171567"/>
                      <a:pt x="1184461" y="175846"/>
                    </a:cubicBezTo>
                    <a:cubicBezTo>
                      <a:pt x="1196184" y="179754"/>
                      <a:pt x="1208828" y="181568"/>
                      <a:pt x="1219630" y="187569"/>
                    </a:cubicBezTo>
                    <a:cubicBezTo>
                      <a:pt x="1244263" y="201254"/>
                      <a:pt x="1263235" y="225550"/>
                      <a:pt x="1289968" y="234461"/>
                    </a:cubicBezTo>
                    <a:lnTo>
                      <a:pt x="1325138" y="246184"/>
                    </a:lnTo>
                    <a:cubicBezTo>
                      <a:pt x="1332953" y="254000"/>
                      <a:pt x="1339953" y="262726"/>
                      <a:pt x="1348584" y="269631"/>
                    </a:cubicBezTo>
                    <a:cubicBezTo>
                      <a:pt x="1359586" y="278433"/>
                      <a:pt x="1374951" y="282075"/>
                      <a:pt x="1383753" y="293077"/>
                    </a:cubicBezTo>
                    <a:cubicBezTo>
                      <a:pt x="1395904" y="308266"/>
                      <a:pt x="1407079" y="397864"/>
                      <a:pt x="1407199" y="398584"/>
                    </a:cubicBezTo>
                    <a:cubicBezTo>
                      <a:pt x="1399123" y="503571"/>
                      <a:pt x="1430527" y="527632"/>
                      <a:pt x="1372030" y="574431"/>
                    </a:cubicBezTo>
                    <a:cubicBezTo>
                      <a:pt x="1361028" y="583233"/>
                      <a:pt x="1348584" y="590062"/>
                      <a:pt x="1336861" y="597877"/>
                    </a:cubicBezTo>
                    <a:cubicBezTo>
                      <a:pt x="1135658" y="586042"/>
                      <a:pt x="1063469" y="575224"/>
                      <a:pt x="844491" y="597877"/>
                    </a:cubicBezTo>
                    <a:cubicBezTo>
                      <a:pt x="818727" y="600542"/>
                      <a:pt x="768419" y="643840"/>
                      <a:pt x="750707" y="656492"/>
                    </a:cubicBezTo>
                    <a:cubicBezTo>
                      <a:pt x="710937" y="684899"/>
                      <a:pt x="723921" y="677144"/>
                      <a:pt x="680368" y="691661"/>
                    </a:cubicBezTo>
                    <a:cubicBezTo>
                      <a:pt x="656922" y="687753"/>
                      <a:pt x="633338" y="684600"/>
                      <a:pt x="610030" y="679938"/>
                    </a:cubicBezTo>
                    <a:cubicBezTo>
                      <a:pt x="573231" y="672578"/>
                      <a:pt x="561487" y="667665"/>
                      <a:pt x="527968" y="656492"/>
                    </a:cubicBezTo>
                    <a:cubicBezTo>
                      <a:pt x="516245" y="648677"/>
                      <a:pt x="505749" y="638596"/>
                      <a:pt x="492799" y="633046"/>
                    </a:cubicBezTo>
                    <a:cubicBezTo>
                      <a:pt x="475950" y="625825"/>
                      <a:pt x="400645" y="612938"/>
                      <a:pt x="387291" y="609600"/>
                    </a:cubicBezTo>
                    <a:cubicBezTo>
                      <a:pt x="375303" y="606603"/>
                      <a:pt x="364004" y="601272"/>
                      <a:pt x="352122" y="597877"/>
                    </a:cubicBezTo>
                    <a:cubicBezTo>
                      <a:pt x="336630" y="593451"/>
                      <a:pt x="320861" y="590062"/>
                      <a:pt x="305230" y="586154"/>
                    </a:cubicBezTo>
                    <a:cubicBezTo>
                      <a:pt x="250137" y="531059"/>
                      <a:pt x="279256" y="564777"/>
                      <a:pt x="223168" y="480646"/>
                    </a:cubicBezTo>
                    <a:cubicBezTo>
                      <a:pt x="215353" y="468923"/>
                      <a:pt x="211445" y="453292"/>
                      <a:pt x="199722" y="445477"/>
                    </a:cubicBezTo>
                    <a:cubicBezTo>
                      <a:pt x="154271" y="415176"/>
                      <a:pt x="177919" y="426486"/>
                      <a:pt x="129384" y="410308"/>
                    </a:cubicBezTo>
                    <a:cubicBezTo>
                      <a:pt x="117661" y="402492"/>
                      <a:pt x="106817" y="393162"/>
                      <a:pt x="94215" y="386861"/>
                    </a:cubicBezTo>
                    <a:cubicBezTo>
                      <a:pt x="-2865" y="338321"/>
                      <a:pt x="124673" y="418890"/>
                      <a:pt x="23876" y="351692"/>
                    </a:cubicBezTo>
                    <a:cubicBezTo>
                      <a:pt x="16061" y="339969"/>
                      <a:pt x="1832" y="330542"/>
                      <a:pt x="430" y="316523"/>
                    </a:cubicBezTo>
                    <a:cubicBezTo>
                      <a:pt x="-2589" y="286329"/>
                      <a:pt x="10790" y="232008"/>
                      <a:pt x="23876" y="199292"/>
                    </a:cubicBezTo>
                    <a:cubicBezTo>
                      <a:pt x="27121" y="191179"/>
                      <a:pt x="23876" y="179754"/>
                      <a:pt x="23876" y="175846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Curved Connector 9">
                <a:extLst>
                  <a:ext uri="{FF2B5EF4-FFF2-40B4-BE49-F238E27FC236}">
                    <a16:creationId xmlns:a16="http://schemas.microsoft.com/office/drawing/2014/main" id="{50395CAB-FA7E-2196-57E8-C905C0BB1A2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082361" y="1711634"/>
                <a:ext cx="1881055" cy="1185865"/>
              </a:xfrm>
              <a:prstGeom prst="curved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BF3F1F2C-8D8D-44F9-7EFF-241A5207A5C2}"/>
                      </a:ext>
                    </a:extLst>
                  </p:cNvPr>
                  <p:cNvSpPr txBox="1"/>
                  <p:nvPr/>
                </p:nvSpPr>
                <p:spPr>
                  <a:xfrm>
                    <a:off x="9454557" y="1984302"/>
                    <a:ext cx="103155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(∙)</m:t>
                        </m:r>
                      </m:oMath>
                    </a14:m>
                    <a:r>
                      <a:rPr lang="en-US" b="0" dirty="0"/>
                      <a:t> 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BF3F1F2C-8D8D-44F9-7EFF-241A5207A5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54557" y="1984302"/>
                    <a:ext cx="103155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F922E80-65F7-D2D8-147D-520ECAD5385A}"/>
                  </a:ext>
                </a:extLst>
              </p:cNvPr>
              <p:cNvCxnSpPr>
                <a:endCxn id="4" idx="5"/>
              </p:cNvCxnSpPr>
              <p:nvPr/>
            </p:nvCxnSpPr>
            <p:spPr>
              <a:xfrm>
                <a:off x="10615821" y="1364037"/>
                <a:ext cx="397011" cy="3882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8A7FEB44-47B4-FF2B-FD5F-9E8B51E638E3}"/>
                      </a:ext>
                    </a:extLst>
                  </p:cNvPr>
                  <p:cNvSpPr txBox="1"/>
                  <p:nvPr/>
                </p:nvSpPr>
                <p:spPr>
                  <a:xfrm>
                    <a:off x="10022888" y="2997956"/>
                    <a:ext cx="149510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8A7FEB44-47B4-FF2B-FD5F-9E8B51E638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22888" y="2997956"/>
                    <a:ext cx="1495106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D35C7449-85EA-F815-E025-2ECA7C5E8B97}"/>
                  </a:ext>
                </a:extLst>
              </p:cNvPr>
              <p:cNvCxnSpPr/>
              <p:nvPr/>
            </p:nvCxnSpPr>
            <p:spPr>
              <a:xfrm>
                <a:off x="9454557" y="3217195"/>
                <a:ext cx="671671" cy="482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AEF14B0-5046-9E52-D5CF-DB2832703B7D}"/>
                      </a:ext>
                    </a:extLst>
                  </p:cNvPr>
                  <p:cNvSpPr txBox="1"/>
                  <p:nvPr/>
                </p:nvSpPr>
                <p:spPr>
                  <a:xfrm>
                    <a:off x="10434212" y="2508644"/>
                    <a:ext cx="103155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(∙)</m:t>
                        </m:r>
                      </m:oMath>
                    </a14:m>
                    <a:r>
                      <a:rPr lang="en-US" b="0" dirty="0"/>
                      <a:t> 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AEF14B0-5046-9E52-D5CF-DB2832703B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34212" y="2508644"/>
                    <a:ext cx="103155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16E9BAD8-D1D3-4F28-260F-1A0D4BDFDEA5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9729" y="1122383"/>
                    <a:ext cx="1251467" cy="2827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16E9BAD8-D1D3-4F28-260F-1A0D4BDFDE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09729" y="1122383"/>
                    <a:ext cx="1251467" cy="2827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69883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64AFC-4BAD-4BC8-4A9B-0232A248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 of Reachable Set Computation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5588636-9243-F4A3-D1F0-42673AF9385B}"/>
              </a:ext>
            </a:extLst>
          </p:cNvPr>
          <p:cNvGrpSpPr/>
          <p:nvPr/>
        </p:nvGrpSpPr>
        <p:grpSpPr>
          <a:xfrm>
            <a:off x="6175072" y="2537811"/>
            <a:ext cx="2627697" cy="2140647"/>
            <a:chOff x="6175072" y="2537811"/>
            <a:chExt cx="2627697" cy="214064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2EBE1CC-C7FA-6893-0764-613D93B4C579}"/>
                </a:ext>
              </a:extLst>
            </p:cNvPr>
            <p:cNvSpPr/>
            <p:nvPr/>
          </p:nvSpPr>
          <p:spPr>
            <a:xfrm>
              <a:off x="6175072" y="2537811"/>
              <a:ext cx="2627697" cy="194122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0488F96-D440-9AC9-C2C1-E464BC999D5F}"/>
                    </a:ext>
                  </a:extLst>
                </p:cNvPr>
                <p:cNvSpPr txBox="1"/>
                <p:nvPr/>
              </p:nvSpPr>
              <p:spPr>
                <a:xfrm>
                  <a:off x="6278051" y="4124460"/>
                  <a:ext cx="527067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oMath>
                    </m:oMathPara>
                  </a14:m>
                  <a:endParaRPr lang="en-US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0488F96-D440-9AC9-C2C1-E464BC999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8051" y="4124460"/>
                  <a:ext cx="527067" cy="55399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42DE196-3D59-8518-15C1-C6B87BEAC845}"/>
              </a:ext>
            </a:extLst>
          </p:cNvPr>
          <p:cNvGrpSpPr/>
          <p:nvPr/>
        </p:nvGrpSpPr>
        <p:grpSpPr>
          <a:xfrm>
            <a:off x="528627" y="2306355"/>
            <a:ext cx="3457575" cy="4121944"/>
            <a:chOff x="3326606" y="1027906"/>
            <a:chExt cx="3457575" cy="352901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4BB8B39-2524-B3C4-B513-BD1435DB63B1}"/>
                </a:ext>
              </a:extLst>
            </p:cNvPr>
            <p:cNvSpPr/>
            <p:nvPr/>
          </p:nvSpPr>
          <p:spPr>
            <a:xfrm>
              <a:off x="3326606" y="1027906"/>
              <a:ext cx="3457575" cy="352901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9EE9BBF-F73E-D31C-3427-335E8507D7FD}"/>
                    </a:ext>
                  </a:extLst>
                </p:cNvPr>
                <p:cNvSpPr txBox="1"/>
                <p:nvPr/>
              </p:nvSpPr>
              <p:spPr>
                <a:xfrm>
                  <a:off x="5871547" y="1151347"/>
                  <a:ext cx="419999" cy="316204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3C2F3A8-D33E-501A-1E4C-6011E954D5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1547" y="1151347"/>
                  <a:ext cx="419999" cy="3162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FC74773-0018-E30B-54E6-993635166896}"/>
              </a:ext>
            </a:extLst>
          </p:cNvPr>
          <p:cNvGrpSpPr/>
          <p:nvPr/>
        </p:nvGrpSpPr>
        <p:grpSpPr>
          <a:xfrm>
            <a:off x="902534" y="2664613"/>
            <a:ext cx="2784511" cy="3638274"/>
            <a:chOff x="7254980" y="6781929"/>
            <a:chExt cx="2784511" cy="3638274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DD4DEAA-318B-4C0B-753C-2EAFE99AB1A2}"/>
                </a:ext>
              </a:extLst>
            </p:cNvPr>
            <p:cNvSpPr/>
            <p:nvPr/>
          </p:nvSpPr>
          <p:spPr>
            <a:xfrm>
              <a:off x="7254980" y="6781929"/>
              <a:ext cx="2784511" cy="3638274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6F03D9A-ABC2-F71D-C712-7BB9BFF2FD31}"/>
                    </a:ext>
                  </a:extLst>
                </p:cNvPr>
                <p:cNvSpPr txBox="1"/>
                <p:nvPr/>
              </p:nvSpPr>
              <p:spPr>
                <a:xfrm>
                  <a:off x="8689337" y="7578321"/>
                  <a:ext cx="1263529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D61FB5C-D94F-A199-D93A-35CC2CD4C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9337" y="7578321"/>
                  <a:ext cx="1263529" cy="381515"/>
                </a:xfrm>
                <a:prstGeom prst="rect">
                  <a:avLst/>
                </a:prstGeom>
                <a:blipFill>
                  <a:blip r:embed="rId5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ADC8BB0-B655-1D51-8040-3EC8060E2349}"/>
              </a:ext>
            </a:extLst>
          </p:cNvPr>
          <p:cNvGrpSpPr/>
          <p:nvPr/>
        </p:nvGrpSpPr>
        <p:grpSpPr>
          <a:xfrm>
            <a:off x="1179151" y="3017159"/>
            <a:ext cx="2197308" cy="2700337"/>
            <a:chOff x="5053598" y="1863447"/>
            <a:chExt cx="2197308" cy="2700337"/>
          </a:xfrm>
        </p:grpSpPr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EAF64C76-8E68-F248-462C-5259A791EC7C}"/>
                </a:ext>
              </a:extLst>
            </p:cNvPr>
            <p:cNvSpPr/>
            <p:nvPr/>
          </p:nvSpPr>
          <p:spPr>
            <a:xfrm>
              <a:off x="5053598" y="1863447"/>
              <a:ext cx="2197308" cy="2700337"/>
            </a:xfrm>
            <a:custGeom>
              <a:avLst/>
              <a:gdLst>
                <a:gd name="connsiteX0" fmla="*/ 654258 w 2754521"/>
                <a:gd name="connsiteY0" fmla="*/ 128587 h 2700337"/>
                <a:gd name="connsiteX1" fmla="*/ 654258 w 2754521"/>
                <a:gd name="connsiteY1" fmla="*/ 128587 h 2700337"/>
                <a:gd name="connsiteX2" fmla="*/ 554246 w 2754521"/>
                <a:gd name="connsiteY2" fmla="*/ 414337 h 2700337"/>
                <a:gd name="connsiteX3" fmla="*/ 297071 w 2754521"/>
                <a:gd name="connsiteY3" fmla="*/ 742950 h 2700337"/>
                <a:gd name="connsiteX4" fmla="*/ 168483 w 2754521"/>
                <a:gd name="connsiteY4" fmla="*/ 971550 h 2700337"/>
                <a:gd name="connsiteX5" fmla="*/ 111333 w 2754521"/>
                <a:gd name="connsiteY5" fmla="*/ 1057275 h 2700337"/>
                <a:gd name="connsiteX6" fmla="*/ 54183 w 2754521"/>
                <a:gd name="connsiteY6" fmla="*/ 1243012 h 2700337"/>
                <a:gd name="connsiteX7" fmla="*/ 39896 w 2754521"/>
                <a:gd name="connsiteY7" fmla="*/ 1343025 h 2700337"/>
                <a:gd name="connsiteX8" fmla="*/ 11321 w 2754521"/>
                <a:gd name="connsiteY8" fmla="*/ 1528762 h 2700337"/>
                <a:gd name="connsiteX9" fmla="*/ 54183 w 2754521"/>
                <a:gd name="connsiteY9" fmla="*/ 2000250 h 2700337"/>
                <a:gd name="connsiteX10" fmla="*/ 168483 w 2754521"/>
                <a:gd name="connsiteY10" fmla="*/ 2100262 h 2700337"/>
                <a:gd name="connsiteX11" fmla="*/ 239921 w 2754521"/>
                <a:gd name="connsiteY11" fmla="*/ 2128837 h 2700337"/>
                <a:gd name="connsiteX12" fmla="*/ 368508 w 2754521"/>
                <a:gd name="connsiteY12" fmla="*/ 2171700 h 2700337"/>
                <a:gd name="connsiteX13" fmla="*/ 597108 w 2754521"/>
                <a:gd name="connsiteY13" fmla="*/ 2343150 h 2700337"/>
                <a:gd name="connsiteX14" fmla="*/ 1182896 w 2754521"/>
                <a:gd name="connsiteY14" fmla="*/ 2657475 h 2700337"/>
                <a:gd name="connsiteX15" fmla="*/ 1368633 w 2754521"/>
                <a:gd name="connsiteY15" fmla="*/ 2700337 h 2700337"/>
                <a:gd name="connsiteX16" fmla="*/ 1568658 w 2754521"/>
                <a:gd name="connsiteY16" fmla="*/ 2686050 h 2700337"/>
                <a:gd name="connsiteX17" fmla="*/ 1625808 w 2754521"/>
                <a:gd name="connsiteY17" fmla="*/ 2657475 h 2700337"/>
                <a:gd name="connsiteX18" fmla="*/ 1697246 w 2754521"/>
                <a:gd name="connsiteY18" fmla="*/ 2628900 h 2700337"/>
                <a:gd name="connsiteX19" fmla="*/ 1754396 w 2754521"/>
                <a:gd name="connsiteY19" fmla="*/ 2586037 h 2700337"/>
                <a:gd name="connsiteX20" fmla="*/ 1897271 w 2754521"/>
                <a:gd name="connsiteY20" fmla="*/ 2528887 h 2700337"/>
                <a:gd name="connsiteX21" fmla="*/ 1968708 w 2754521"/>
                <a:gd name="connsiteY21" fmla="*/ 2486025 h 2700337"/>
                <a:gd name="connsiteX22" fmla="*/ 2154446 w 2754521"/>
                <a:gd name="connsiteY22" fmla="*/ 2386012 h 2700337"/>
                <a:gd name="connsiteX23" fmla="*/ 2325896 w 2754521"/>
                <a:gd name="connsiteY23" fmla="*/ 2286000 h 2700337"/>
                <a:gd name="connsiteX24" fmla="*/ 2383046 w 2754521"/>
                <a:gd name="connsiteY24" fmla="*/ 2228850 h 2700337"/>
                <a:gd name="connsiteX25" fmla="*/ 2454483 w 2754521"/>
                <a:gd name="connsiteY25" fmla="*/ 2171700 h 2700337"/>
                <a:gd name="connsiteX26" fmla="*/ 2497346 w 2754521"/>
                <a:gd name="connsiteY26" fmla="*/ 2100262 h 2700337"/>
                <a:gd name="connsiteX27" fmla="*/ 2554496 w 2754521"/>
                <a:gd name="connsiteY27" fmla="*/ 2043112 h 2700337"/>
                <a:gd name="connsiteX28" fmla="*/ 2654508 w 2754521"/>
                <a:gd name="connsiteY28" fmla="*/ 1885950 h 2700337"/>
                <a:gd name="connsiteX29" fmla="*/ 2711658 w 2754521"/>
                <a:gd name="connsiteY29" fmla="*/ 1743075 h 2700337"/>
                <a:gd name="connsiteX30" fmla="*/ 2754521 w 2754521"/>
                <a:gd name="connsiteY30" fmla="*/ 1643062 h 2700337"/>
                <a:gd name="connsiteX31" fmla="*/ 2740233 w 2754521"/>
                <a:gd name="connsiteY31" fmla="*/ 1485900 h 2700337"/>
                <a:gd name="connsiteX32" fmla="*/ 2554496 w 2754521"/>
                <a:gd name="connsiteY32" fmla="*/ 1214437 h 2700337"/>
                <a:gd name="connsiteX33" fmla="*/ 2454483 w 2754521"/>
                <a:gd name="connsiteY33" fmla="*/ 1114425 h 2700337"/>
                <a:gd name="connsiteX34" fmla="*/ 2411621 w 2754521"/>
                <a:gd name="connsiteY34" fmla="*/ 1100137 h 2700337"/>
                <a:gd name="connsiteX35" fmla="*/ 2197308 w 2754521"/>
                <a:gd name="connsiteY35" fmla="*/ 1057275 h 2700337"/>
                <a:gd name="connsiteX36" fmla="*/ 2154446 w 2754521"/>
                <a:gd name="connsiteY36" fmla="*/ 1028700 h 2700337"/>
                <a:gd name="connsiteX37" fmla="*/ 1997283 w 2754521"/>
                <a:gd name="connsiteY37" fmla="*/ 971550 h 2700337"/>
                <a:gd name="connsiteX38" fmla="*/ 1925846 w 2754521"/>
                <a:gd name="connsiteY38" fmla="*/ 957262 h 2700337"/>
                <a:gd name="connsiteX39" fmla="*/ 1854408 w 2754521"/>
                <a:gd name="connsiteY39" fmla="*/ 928687 h 2700337"/>
                <a:gd name="connsiteX40" fmla="*/ 1797258 w 2754521"/>
                <a:gd name="connsiteY40" fmla="*/ 914400 h 2700337"/>
                <a:gd name="connsiteX41" fmla="*/ 1754396 w 2754521"/>
                <a:gd name="connsiteY41" fmla="*/ 885825 h 2700337"/>
                <a:gd name="connsiteX42" fmla="*/ 1711533 w 2754521"/>
                <a:gd name="connsiteY42" fmla="*/ 828675 h 2700337"/>
                <a:gd name="connsiteX43" fmla="*/ 1682958 w 2754521"/>
                <a:gd name="connsiteY43" fmla="*/ 728662 h 2700337"/>
                <a:gd name="connsiteX44" fmla="*/ 1668671 w 2754521"/>
                <a:gd name="connsiteY44" fmla="*/ 585787 h 2700337"/>
                <a:gd name="connsiteX45" fmla="*/ 1611521 w 2754521"/>
                <a:gd name="connsiteY45" fmla="*/ 485775 h 2700337"/>
                <a:gd name="connsiteX46" fmla="*/ 1568658 w 2754521"/>
                <a:gd name="connsiteY46" fmla="*/ 428625 h 2700337"/>
                <a:gd name="connsiteX47" fmla="*/ 1540083 w 2754521"/>
                <a:gd name="connsiteY47" fmla="*/ 385762 h 2700337"/>
                <a:gd name="connsiteX48" fmla="*/ 1440071 w 2754521"/>
                <a:gd name="connsiteY48" fmla="*/ 300037 h 2700337"/>
                <a:gd name="connsiteX49" fmla="*/ 1368633 w 2754521"/>
                <a:gd name="connsiteY49" fmla="*/ 228600 h 2700337"/>
                <a:gd name="connsiteX50" fmla="*/ 1325771 w 2754521"/>
                <a:gd name="connsiteY50" fmla="*/ 185737 h 2700337"/>
                <a:gd name="connsiteX51" fmla="*/ 1168608 w 2754521"/>
                <a:gd name="connsiteY51" fmla="*/ 71437 h 2700337"/>
                <a:gd name="connsiteX52" fmla="*/ 1111458 w 2754521"/>
                <a:gd name="connsiteY52" fmla="*/ 42862 h 2700337"/>
                <a:gd name="connsiteX53" fmla="*/ 1054308 w 2754521"/>
                <a:gd name="connsiteY53" fmla="*/ 28575 h 2700337"/>
                <a:gd name="connsiteX54" fmla="*/ 925721 w 2754521"/>
                <a:gd name="connsiteY54" fmla="*/ 0 h 2700337"/>
                <a:gd name="connsiteX55" fmla="*/ 782846 w 2754521"/>
                <a:gd name="connsiteY55" fmla="*/ 14287 h 2700337"/>
                <a:gd name="connsiteX56" fmla="*/ 739983 w 2754521"/>
                <a:gd name="connsiteY56" fmla="*/ 57150 h 2700337"/>
                <a:gd name="connsiteX57" fmla="*/ 654258 w 2754521"/>
                <a:gd name="connsiteY57" fmla="*/ 100012 h 2700337"/>
                <a:gd name="connsiteX58" fmla="*/ 625683 w 2754521"/>
                <a:gd name="connsiteY58" fmla="*/ 142875 h 2700337"/>
                <a:gd name="connsiteX59" fmla="*/ 611396 w 2754521"/>
                <a:gd name="connsiteY59" fmla="*/ 185737 h 2700337"/>
                <a:gd name="connsiteX60" fmla="*/ 668546 w 2754521"/>
                <a:gd name="connsiteY60" fmla="*/ 171450 h 2700337"/>
                <a:gd name="connsiteX61" fmla="*/ 654258 w 2754521"/>
                <a:gd name="connsiteY61" fmla="*/ 128587 h 2700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754521" h="2700337">
                  <a:moveTo>
                    <a:pt x="654258" y="128587"/>
                  </a:moveTo>
                  <a:lnTo>
                    <a:pt x="654258" y="128587"/>
                  </a:lnTo>
                  <a:cubicBezTo>
                    <a:pt x="641874" y="168835"/>
                    <a:pt x="591587" y="355658"/>
                    <a:pt x="554246" y="414337"/>
                  </a:cubicBezTo>
                  <a:cubicBezTo>
                    <a:pt x="308773" y="800080"/>
                    <a:pt x="488776" y="487343"/>
                    <a:pt x="297071" y="742950"/>
                  </a:cubicBezTo>
                  <a:cubicBezTo>
                    <a:pt x="214340" y="853258"/>
                    <a:pt x="235028" y="855096"/>
                    <a:pt x="168483" y="971550"/>
                  </a:cubicBezTo>
                  <a:cubicBezTo>
                    <a:pt x="151444" y="1001368"/>
                    <a:pt x="126692" y="1026558"/>
                    <a:pt x="111333" y="1057275"/>
                  </a:cubicBezTo>
                  <a:cubicBezTo>
                    <a:pt x="98154" y="1083634"/>
                    <a:pt x="60691" y="1220235"/>
                    <a:pt x="54183" y="1243012"/>
                  </a:cubicBezTo>
                  <a:cubicBezTo>
                    <a:pt x="49421" y="1276350"/>
                    <a:pt x="45017" y="1309740"/>
                    <a:pt x="39896" y="1343025"/>
                  </a:cubicBezTo>
                  <a:cubicBezTo>
                    <a:pt x="246" y="1600753"/>
                    <a:pt x="52752" y="1238739"/>
                    <a:pt x="11321" y="1528762"/>
                  </a:cubicBezTo>
                  <a:cubicBezTo>
                    <a:pt x="12212" y="1554605"/>
                    <a:pt x="-34017" y="1882650"/>
                    <a:pt x="54183" y="2000250"/>
                  </a:cubicBezTo>
                  <a:cubicBezTo>
                    <a:pt x="74202" y="2026942"/>
                    <a:pt x="137482" y="2083040"/>
                    <a:pt x="168483" y="2100262"/>
                  </a:cubicBezTo>
                  <a:cubicBezTo>
                    <a:pt x="190903" y="2112717"/>
                    <a:pt x="215590" y="2120727"/>
                    <a:pt x="239921" y="2128837"/>
                  </a:cubicBezTo>
                  <a:cubicBezTo>
                    <a:pt x="287534" y="2144708"/>
                    <a:pt x="323791" y="2141889"/>
                    <a:pt x="368508" y="2171700"/>
                  </a:cubicBezTo>
                  <a:cubicBezTo>
                    <a:pt x="447761" y="2224535"/>
                    <a:pt x="515746" y="2293625"/>
                    <a:pt x="597108" y="2343150"/>
                  </a:cubicBezTo>
                  <a:cubicBezTo>
                    <a:pt x="754364" y="2438871"/>
                    <a:pt x="992518" y="2603081"/>
                    <a:pt x="1182896" y="2657475"/>
                  </a:cubicBezTo>
                  <a:cubicBezTo>
                    <a:pt x="1310763" y="2694008"/>
                    <a:pt x="1248708" y="2680350"/>
                    <a:pt x="1368633" y="2700337"/>
                  </a:cubicBezTo>
                  <a:cubicBezTo>
                    <a:pt x="1435308" y="2695575"/>
                    <a:pt x="1502723" y="2697039"/>
                    <a:pt x="1568658" y="2686050"/>
                  </a:cubicBezTo>
                  <a:cubicBezTo>
                    <a:pt x="1589667" y="2682549"/>
                    <a:pt x="1606345" y="2666125"/>
                    <a:pt x="1625808" y="2657475"/>
                  </a:cubicBezTo>
                  <a:cubicBezTo>
                    <a:pt x="1649245" y="2647059"/>
                    <a:pt x="1674827" y="2641355"/>
                    <a:pt x="1697246" y="2628900"/>
                  </a:cubicBezTo>
                  <a:cubicBezTo>
                    <a:pt x="1718062" y="2617336"/>
                    <a:pt x="1733097" y="2596686"/>
                    <a:pt x="1754396" y="2586037"/>
                  </a:cubicBezTo>
                  <a:cubicBezTo>
                    <a:pt x="1800274" y="2563098"/>
                    <a:pt x="1853287" y="2555277"/>
                    <a:pt x="1897271" y="2528887"/>
                  </a:cubicBezTo>
                  <a:cubicBezTo>
                    <a:pt x="1921083" y="2514600"/>
                    <a:pt x="1944329" y="2499323"/>
                    <a:pt x="1968708" y="2486025"/>
                  </a:cubicBezTo>
                  <a:cubicBezTo>
                    <a:pt x="2099997" y="2414412"/>
                    <a:pt x="2013208" y="2472928"/>
                    <a:pt x="2154446" y="2386012"/>
                  </a:cubicBezTo>
                  <a:cubicBezTo>
                    <a:pt x="2316667" y="2286184"/>
                    <a:pt x="2163021" y="2367437"/>
                    <a:pt x="2325896" y="2286000"/>
                  </a:cubicBezTo>
                  <a:cubicBezTo>
                    <a:pt x="2344946" y="2266950"/>
                    <a:pt x="2362910" y="2246749"/>
                    <a:pt x="2383046" y="2228850"/>
                  </a:cubicBezTo>
                  <a:cubicBezTo>
                    <a:pt x="2405838" y="2208590"/>
                    <a:pt x="2434223" y="2194492"/>
                    <a:pt x="2454483" y="2171700"/>
                  </a:cubicBezTo>
                  <a:cubicBezTo>
                    <a:pt x="2472932" y="2150944"/>
                    <a:pt x="2480297" y="2122182"/>
                    <a:pt x="2497346" y="2100262"/>
                  </a:cubicBezTo>
                  <a:cubicBezTo>
                    <a:pt x="2513886" y="2078996"/>
                    <a:pt x="2537666" y="2064149"/>
                    <a:pt x="2554496" y="2043112"/>
                  </a:cubicBezTo>
                  <a:cubicBezTo>
                    <a:pt x="2566810" y="2027719"/>
                    <a:pt x="2642686" y="1911282"/>
                    <a:pt x="2654508" y="1885950"/>
                  </a:cubicBezTo>
                  <a:cubicBezTo>
                    <a:pt x="2676199" y="1839468"/>
                    <a:pt x="2688719" y="1788953"/>
                    <a:pt x="2711658" y="1743075"/>
                  </a:cubicBezTo>
                  <a:cubicBezTo>
                    <a:pt x="2746968" y="1672454"/>
                    <a:pt x="2733498" y="1706131"/>
                    <a:pt x="2754521" y="1643062"/>
                  </a:cubicBezTo>
                  <a:cubicBezTo>
                    <a:pt x="2749758" y="1590675"/>
                    <a:pt x="2756868" y="1535804"/>
                    <a:pt x="2740233" y="1485900"/>
                  </a:cubicBezTo>
                  <a:cubicBezTo>
                    <a:pt x="2721942" y="1431027"/>
                    <a:pt x="2595362" y="1255302"/>
                    <a:pt x="2554496" y="1214437"/>
                  </a:cubicBezTo>
                  <a:cubicBezTo>
                    <a:pt x="2521158" y="1181100"/>
                    <a:pt x="2499210" y="1129335"/>
                    <a:pt x="2454483" y="1114425"/>
                  </a:cubicBezTo>
                  <a:cubicBezTo>
                    <a:pt x="2440196" y="1109662"/>
                    <a:pt x="2426389" y="1103091"/>
                    <a:pt x="2411621" y="1100137"/>
                  </a:cubicBezTo>
                  <a:cubicBezTo>
                    <a:pt x="2178729" y="1053558"/>
                    <a:pt x="2307246" y="1093919"/>
                    <a:pt x="2197308" y="1057275"/>
                  </a:cubicBezTo>
                  <a:cubicBezTo>
                    <a:pt x="2183021" y="1047750"/>
                    <a:pt x="2169804" y="1036379"/>
                    <a:pt x="2154446" y="1028700"/>
                  </a:cubicBezTo>
                  <a:cubicBezTo>
                    <a:pt x="2123770" y="1013362"/>
                    <a:pt x="2026622" y="979552"/>
                    <a:pt x="1997283" y="971550"/>
                  </a:cubicBezTo>
                  <a:cubicBezTo>
                    <a:pt x="1973855" y="965160"/>
                    <a:pt x="1949106" y="964240"/>
                    <a:pt x="1925846" y="957262"/>
                  </a:cubicBezTo>
                  <a:cubicBezTo>
                    <a:pt x="1901281" y="949892"/>
                    <a:pt x="1878739" y="936797"/>
                    <a:pt x="1854408" y="928687"/>
                  </a:cubicBezTo>
                  <a:cubicBezTo>
                    <a:pt x="1835779" y="922478"/>
                    <a:pt x="1816308" y="919162"/>
                    <a:pt x="1797258" y="914400"/>
                  </a:cubicBezTo>
                  <a:cubicBezTo>
                    <a:pt x="1782971" y="904875"/>
                    <a:pt x="1766538" y="897967"/>
                    <a:pt x="1754396" y="885825"/>
                  </a:cubicBezTo>
                  <a:cubicBezTo>
                    <a:pt x="1737558" y="868987"/>
                    <a:pt x="1723347" y="849350"/>
                    <a:pt x="1711533" y="828675"/>
                  </a:cubicBezTo>
                  <a:cubicBezTo>
                    <a:pt x="1702425" y="812737"/>
                    <a:pt x="1686050" y="741029"/>
                    <a:pt x="1682958" y="728662"/>
                  </a:cubicBezTo>
                  <a:cubicBezTo>
                    <a:pt x="1678196" y="681037"/>
                    <a:pt x="1678699" y="632587"/>
                    <a:pt x="1668671" y="585787"/>
                  </a:cubicBezTo>
                  <a:cubicBezTo>
                    <a:pt x="1663546" y="561868"/>
                    <a:pt x="1626814" y="507185"/>
                    <a:pt x="1611521" y="485775"/>
                  </a:cubicBezTo>
                  <a:cubicBezTo>
                    <a:pt x="1597680" y="466398"/>
                    <a:pt x="1582499" y="448002"/>
                    <a:pt x="1568658" y="428625"/>
                  </a:cubicBezTo>
                  <a:cubicBezTo>
                    <a:pt x="1558677" y="414652"/>
                    <a:pt x="1551258" y="398800"/>
                    <a:pt x="1540083" y="385762"/>
                  </a:cubicBezTo>
                  <a:cubicBezTo>
                    <a:pt x="1493889" y="331869"/>
                    <a:pt x="1490627" y="333741"/>
                    <a:pt x="1440071" y="300037"/>
                  </a:cubicBezTo>
                  <a:cubicBezTo>
                    <a:pt x="1387682" y="221454"/>
                    <a:pt x="1440073" y="288134"/>
                    <a:pt x="1368633" y="228600"/>
                  </a:cubicBezTo>
                  <a:cubicBezTo>
                    <a:pt x="1353111" y="215665"/>
                    <a:pt x="1340977" y="199043"/>
                    <a:pt x="1325771" y="185737"/>
                  </a:cubicBezTo>
                  <a:cubicBezTo>
                    <a:pt x="1291013" y="155324"/>
                    <a:pt x="1208197" y="91231"/>
                    <a:pt x="1168608" y="71437"/>
                  </a:cubicBezTo>
                  <a:cubicBezTo>
                    <a:pt x="1149558" y="61912"/>
                    <a:pt x="1131400" y="50340"/>
                    <a:pt x="1111458" y="42862"/>
                  </a:cubicBezTo>
                  <a:cubicBezTo>
                    <a:pt x="1093072" y="35967"/>
                    <a:pt x="1073477" y="32835"/>
                    <a:pt x="1054308" y="28575"/>
                  </a:cubicBezTo>
                  <a:cubicBezTo>
                    <a:pt x="891062" y="-7702"/>
                    <a:pt x="1065098" y="34843"/>
                    <a:pt x="925721" y="0"/>
                  </a:cubicBezTo>
                  <a:cubicBezTo>
                    <a:pt x="878096" y="4762"/>
                    <a:pt x="828592" y="211"/>
                    <a:pt x="782846" y="14287"/>
                  </a:cubicBezTo>
                  <a:cubicBezTo>
                    <a:pt x="763534" y="20229"/>
                    <a:pt x="755505" y="44215"/>
                    <a:pt x="739983" y="57150"/>
                  </a:cubicBezTo>
                  <a:cubicBezTo>
                    <a:pt x="703053" y="87925"/>
                    <a:pt x="697218" y="85693"/>
                    <a:pt x="654258" y="100012"/>
                  </a:cubicBezTo>
                  <a:cubicBezTo>
                    <a:pt x="644733" y="114300"/>
                    <a:pt x="633362" y="127516"/>
                    <a:pt x="625683" y="142875"/>
                  </a:cubicBezTo>
                  <a:cubicBezTo>
                    <a:pt x="618948" y="156345"/>
                    <a:pt x="598865" y="177383"/>
                    <a:pt x="611396" y="185737"/>
                  </a:cubicBezTo>
                  <a:cubicBezTo>
                    <a:pt x="627734" y="196629"/>
                    <a:pt x="649917" y="177659"/>
                    <a:pt x="668546" y="171450"/>
                  </a:cubicBezTo>
                  <a:cubicBezTo>
                    <a:pt x="673064" y="169944"/>
                    <a:pt x="656639" y="135731"/>
                    <a:pt x="654258" y="12858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5A0C59A-AF48-8C8A-E1D7-E51DEE7F84E7}"/>
                    </a:ext>
                  </a:extLst>
                </p:cNvPr>
                <p:cNvSpPr txBox="1"/>
                <p:nvPr/>
              </p:nvSpPr>
              <p:spPr>
                <a:xfrm>
                  <a:off x="5181599" y="2701408"/>
                  <a:ext cx="141446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𝑅𝑒𝑎𝑐h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24F82CC-68EC-2237-4C42-EFB49D6997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599" y="2701408"/>
                  <a:ext cx="1414463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4425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56A4FF0-6243-1AE9-1E47-D63D8E3A8159}"/>
              </a:ext>
            </a:extLst>
          </p:cNvPr>
          <p:cNvGrpSpPr/>
          <p:nvPr/>
        </p:nvGrpSpPr>
        <p:grpSpPr>
          <a:xfrm>
            <a:off x="6331099" y="2595649"/>
            <a:ext cx="2357659" cy="1828800"/>
            <a:chOff x="5963413" y="1233487"/>
            <a:chExt cx="2357659" cy="1828800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92D685DF-6671-C027-E15D-9D06196CD72B}"/>
                </a:ext>
              </a:extLst>
            </p:cNvPr>
            <p:cNvSpPr/>
            <p:nvPr/>
          </p:nvSpPr>
          <p:spPr>
            <a:xfrm>
              <a:off x="5963413" y="1233487"/>
              <a:ext cx="2357659" cy="1828800"/>
            </a:xfrm>
            <a:custGeom>
              <a:avLst/>
              <a:gdLst>
                <a:gd name="connsiteX0" fmla="*/ 743171 w 2357659"/>
                <a:gd name="connsiteY0" fmla="*/ 114300 h 1828800"/>
                <a:gd name="connsiteX1" fmla="*/ 743171 w 2357659"/>
                <a:gd name="connsiteY1" fmla="*/ 114300 h 1828800"/>
                <a:gd name="connsiteX2" fmla="*/ 614584 w 2357659"/>
                <a:gd name="connsiteY2" fmla="*/ 128587 h 1828800"/>
                <a:gd name="connsiteX3" fmla="*/ 314546 w 2357659"/>
                <a:gd name="connsiteY3" fmla="*/ 142875 h 1828800"/>
                <a:gd name="connsiteX4" fmla="*/ 214534 w 2357659"/>
                <a:gd name="connsiteY4" fmla="*/ 200025 h 1828800"/>
                <a:gd name="connsiteX5" fmla="*/ 43084 w 2357659"/>
                <a:gd name="connsiteY5" fmla="*/ 414337 h 1828800"/>
                <a:gd name="connsiteX6" fmla="*/ 14509 w 2357659"/>
                <a:gd name="connsiteY6" fmla="*/ 457200 h 1828800"/>
                <a:gd name="connsiteX7" fmla="*/ 221 w 2357659"/>
                <a:gd name="connsiteY7" fmla="*/ 514350 h 1828800"/>
                <a:gd name="connsiteX8" fmla="*/ 85946 w 2357659"/>
                <a:gd name="connsiteY8" fmla="*/ 657225 h 1828800"/>
                <a:gd name="connsiteX9" fmla="*/ 128809 w 2357659"/>
                <a:gd name="connsiteY9" fmla="*/ 714375 h 1828800"/>
                <a:gd name="connsiteX10" fmla="*/ 243109 w 2357659"/>
                <a:gd name="connsiteY10" fmla="*/ 800100 h 1828800"/>
                <a:gd name="connsiteX11" fmla="*/ 285971 w 2357659"/>
                <a:gd name="connsiteY11" fmla="*/ 828675 h 1828800"/>
                <a:gd name="connsiteX12" fmla="*/ 328834 w 2357659"/>
                <a:gd name="connsiteY12" fmla="*/ 885825 h 1828800"/>
                <a:gd name="connsiteX13" fmla="*/ 343121 w 2357659"/>
                <a:gd name="connsiteY13" fmla="*/ 971550 h 1828800"/>
                <a:gd name="connsiteX14" fmla="*/ 314546 w 2357659"/>
                <a:gd name="connsiteY14" fmla="*/ 1085850 h 1828800"/>
                <a:gd name="connsiteX15" fmla="*/ 285971 w 2357659"/>
                <a:gd name="connsiteY15" fmla="*/ 1128712 h 1828800"/>
                <a:gd name="connsiteX16" fmla="*/ 257396 w 2357659"/>
                <a:gd name="connsiteY16" fmla="*/ 1185862 h 1828800"/>
                <a:gd name="connsiteX17" fmla="*/ 185959 w 2357659"/>
                <a:gd name="connsiteY17" fmla="*/ 1285875 h 1828800"/>
                <a:gd name="connsiteX18" fmla="*/ 214534 w 2357659"/>
                <a:gd name="connsiteY18" fmla="*/ 1357312 h 1828800"/>
                <a:gd name="connsiteX19" fmla="*/ 257396 w 2357659"/>
                <a:gd name="connsiteY19" fmla="*/ 1371600 h 1828800"/>
                <a:gd name="connsiteX20" fmla="*/ 385984 w 2357659"/>
                <a:gd name="connsiteY20" fmla="*/ 1414462 h 1828800"/>
                <a:gd name="connsiteX21" fmla="*/ 557434 w 2357659"/>
                <a:gd name="connsiteY21" fmla="*/ 1471612 h 1828800"/>
                <a:gd name="connsiteX22" fmla="*/ 728884 w 2357659"/>
                <a:gd name="connsiteY22" fmla="*/ 1500187 h 1828800"/>
                <a:gd name="connsiteX23" fmla="*/ 800321 w 2357659"/>
                <a:gd name="connsiteY23" fmla="*/ 1514475 h 1828800"/>
                <a:gd name="connsiteX24" fmla="*/ 914621 w 2357659"/>
                <a:gd name="connsiteY24" fmla="*/ 1557337 h 1828800"/>
                <a:gd name="connsiteX25" fmla="*/ 1086071 w 2357659"/>
                <a:gd name="connsiteY25" fmla="*/ 1600200 h 1828800"/>
                <a:gd name="connsiteX26" fmla="*/ 1414684 w 2357659"/>
                <a:gd name="connsiteY26" fmla="*/ 1614487 h 1828800"/>
                <a:gd name="connsiteX27" fmla="*/ 1443259 w 2357659"/>
                <a:gd name="connsiteY27" fmla="*/ 1728787 h 1828800"/>
                <a:gd name="connsiteX28" fmla="*/ 1471834 w 2357659"/>
                <a:gd name="connsiteY28" fmla="*/ 1828800 h 1828800"/>
                <a:gd name="connsiteX29" fmla="*/ 1743296 w 2357659"/>
                <a:gd name="connsiteY29" fmla="*/ 1614487 h 1828800"/>
                <a:gd name="connsiteX30" fmla="*/ 2000471 w 2357659"/>
                <a:gd name="connsiteY30" fmla="*/ 1357312 h 1828800"/>
                <a:gd name="connsiteX31" fmla="*/ 2186209 w 2357659"/>
                <a:gd name="connsiteY31" fmla="*/ 1171575 h 1828800"/>
                <a:gd name="connsiteX32" fmla="*/ 2243359 w 2357659"/>
                <a:gd name="connsiteY32" fmla="*/ 1114425 h 1828800"/>
                <a:gd name="connsiteX33" fmla="*/ 2286221 w 2357659"/>
                <a:gd name="connsiteY33" fmla="*/ 1057275 h 1828800"/>
                <a:gd name="connsiteX34" fmla="*/ 2343371 w 2357659"/>
                <a:gd name="connsiteY34" fmla="*/ 957262 h 1828800"/>
                <a:gd name="connsiteX35" fmla="*/ 2357659 w 2357659"/>
                <a:gd name="connsiteY35" fmla="*/ 914400 h 1828800"/>
                <a:gd name="connsiteX36" fmla="*/ 2343371 w 2357659"/>
                <a:gd name="connsiteY36" fmla="*/ 828675 h 1828800"/>
                <a:gd name="connsiteX37" fmla="*/ 2171921 w 2357659"/>
                <a:gd name="connsiteY37" fmla="*/ 714375 h 1828800"/>
                <a:gd name="connsiteX38" fmla="*/ 2129059 w 2357659"/>
                <a:gd name="connsiteY38" fmla="*/ 685800 h 1828800"/>
                <a:gd name="connsiteX39" fmla="*/ 2043334 w 2357659"/>
                <a:gd name="connsiteY39" fmla="*/ 657225 h 1828800"/>
                <a:gd name="connsiteX40" fmla="*/ 1986184 w 2357659"/>
                <a:gd name="connsiteY40" fmla="*/ 614362 h 1828800"/>
                <a:gd name="connsiteX41" fmla="*/ 1957609 w 2357659"/>
                <a:gd name="connsiteY41" fmla="*/ 500062 h 1828800"/>
                <a:gd name="connsiteX42" fmla="*/ 1943321 w 2357659"/>
                <a:gd name="connsiteY42" fmla="*/ 300037 h 1828800"/>
                <a:gd name="connsiteX43" fmla="*/ 1843309 w 2357659"/>
                <a:gd name="connsiteY43" fmla="*/ 228600 h 1828800"/>
                <a:gd name="connsiteX44" fmla="*/ 1800446 w 2357659"/>
                <a:gd name="connsiteY44" fmla="*/ 185737 h 1828800"/>
                <a:gd name="connsiteX45" fmla="*/ 1743296 w 2357659"/>
                <a:gd name="connsiteY45" fmla="*/ 157162 h 1828800"/>
                <a:gd name="connsiteX46" fmla="*/ 1628996 w 2357659"/>
                <a:gd name="connsiteY46" fmla="*/ 100012 h 1828800"/>
                <a:gd name="connsiteX47" fmla="*/ 1571846 w 2357659"/>
                <a:gd name="connsiteY47" fmla="*/ 71437 h 1828800"/>
                <a:gd name="connsiteX48" fmla="*/ 1500409 w 2357659"/>
                <a:gd name="connsiteY48" fmla="*/ 57150 h 1828800"/>
                <a:gd name="connsiteX49" fmla="*/ 1457546 w 2357659"/>
                <a:gd name="connsiteY49" fmla="*/ 28575 h 1828800"/>
                <a:gd name="connsiteX50" fmla="*/ 1328959 w 2357659"/>
                <a:gd name="connsiteY50" fmla="*/ 0 h 1828800"/>
                <a:gd name="connsiteX51" fmla="*/ 1171796 w 2357659"/>
                <a:gd name="connsiteY51" fmla="*/ 28575 h 1828800"/>
                <a:gd name="connsiteX52" fmla="*/ 1057496 w 2357659"/>
                <a:gd name="connsiteY52" fmla="*/ 71437 h 1828800"/>
                <a:gd name="connsiteX53" fmla="*/ 971771 w 2357659"/>
                <a:gd name="connsiteY53" fmla="*/ 85725 h 1828800"/>
                <a:gd name="connsiteX54" fmla="*/ 900334 w 2357659"/>
                <a:gd name="connsiteY54" fmla="*/ 100012 h 1828800"/>
                <a:gd name="connsiteX55" fmla="*/ 843184 w 2357659"/>
                <a:gd name="connsiteY55" fmla="*/ 114300 h 1828800"/>
                <a:gd name="connsiteX56" fmla="*/ 786034 w 2357659"/>
                <a:gd name="connsiteY56" fmla="*/ 142875 h 1828800"/>
                <a:gd name="connsiteX57" fmla="*/ 743171 w 2357659"/>
                <a:gd name="connsiteY57" fmla="*/ 11430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357659" h="1828800">
                  <a:moveTo>
                    <a:pt x="743171" y="114300"/>
                  </a:moveTo>
                  <a:lnTo>
                    <a:pt x="743171" y="114300"/>
                  </a:lnTo>
                  <a:cubicBezTo>
                    <a:pt x="700309" y="119062"/>
                    <a:pt x="657615" y="125718"/>
                    <a:pt x="614584" y="128587"/>
                  </a:cubicBezTo>
                  <a:cubicBezTo>
                    <a:pt x="514680" y="135247"/>
                    <a:pt x="413113" y="125274"/>
                    <a:pt x="314546" y="142875"/>
                  </a:cubicBezTo>
                  <a:cubicBezTo>
                    <a:pt x="276748" y="149625"/>
                    <a:pt x="247871" y="180975"/>
                    <a:pt x="214534" y="200025"/>
                  </a:cubicBezTo>
                  <a:cubicBezTo>
                    <a:pt x="213223" y="201627"/>
                    <a:pt x="76478" y="364246"/>
                    <a:pt x="43084" y="414337"/>
                  </a:cubicBezTo>
                  <a:lnTo>
                    <a:pt x="14509" y="457200"/>
                  </a:lnTo>
                  <a:cubicBezTo>
                    <a:pt x="9746" y="476250"/>
                    <a:pt x="-1733" y="494811"/>
                    <a:pt x="221" y="514350"/>
                  </a:cubicBezTo>
                  <a:cubicBezTo>
                    <a:pt x="9413" y="606274"/>
                    <a:pt x="32454" y="596092"/>
                    <a:pt x="85946" y="657225"/>
                  </a:cubicBezTo>
                  <a:cubicBezTo>
                    <a:pt x="101627" y="675146"/>
                    <a:pt x="111189" y="698357"/>
                    <a:pt x="128809" y="714375"/>
                  </a:cubicBezTo>
                  <a:cubicBezTo>
                    <a:pt x="164049" y="746411"/>
                    <a:pt x="203483" y="773682"/>
                    <a:pt x="243109" y="800100"/>
                  </a:cubicBezTo>
                  <a:cubicBezTo>
                    <a:pt x="257396" y="809625"/>
                    <a:pt x="273829" y="816533"/>
                    <a:pt x="285971" y="828675"/>
                  </a:cubicBezTo>
                  <a:cubicBezTo>
                    <a:pt x="302809" y="845513"/>
                    <a:pt x="314546" y="866775"/>
                    <a:pt x="328834" y="885825"/>
                  </a:cubicBezTo>
                  <a:cubicBezTo>
                    <a:pt x="333596" y="914400"/>
                    <a:pt x="343121" y="942581"/>
                    <a:pt x="343121" y="971550"/>
                  </a:cubicBezTo>
                  <a:cubicBezTo>
                    <a:pt x="343121" y="987855"/>
                    <a:pt x="325821" y="1063300"/>
                    <a:pt x="314546" y="1085850"/>
                  </a:cubicBezTo>
                  <a:cubicBezTo>
                    <a:pt x="306867" y="1101208"/>
                    <a:pt x="294490" y="1113803"/>
                    <a:pt x="285971" y="1128712"/>
                  </a:cubicBezTo>
                  <a:cubicBezTo>
                    <a:pt x="275404" y="1147204"/>
                    <a:pt x="267963" y="1167370"/>
                    <a:pt x="257396" y="1185862"/>
                  </a:cubicBezTo>
                  <a:cubicBezTo>
                    <a:pt x="240682" y="1215112"/>
                    <a:pt x="204359" y="1261342"/>
                    <a:pt x="185959" y="1285875"/>
                  </a:cubicBezTo>
                  <a:cubicBezTo>
                    <a:pt x="195484" y="1309687"/>
                    <a:pt x="198115" y="1337610"/>
                    <a:pt x="214534" y="1357312"/>
                  </a:cubicBezTo>
                  <a:cubicBezTo>
                    <a:pt x="224175" y="1368882"/>
                    <a:pt x="243553" y="1365667"/>
                    <a:pt x="257396" y="1371600"/>
                  </a:cubicBezTo>
                  <a:cubicBezTo>
                    <a:pt x="360909" y="1415964"/>
                    <a:pt x="265564" y="1390379"/>
                    <a:pt x="385984" y="1414462"/>
                  </a:cubicBezTo>
                  <a:cubicBezTo>
                    <a:pt x="453018" y="1441276"/>
                    <a:pt x="482233" y="1455780"/>
                    <a:pt x="557434" y="1471612"/>
                  </a:cubicBezTo>
                  <a:cubicBezTo>
                    <a:pt x="614130" y="1483548"/>
                    <a:pt x="672071" y="1488824"/>
                    <a:pt x="728884" y="1500187"/>
                  </a:cubicBezTo>
                  <a:lnTo>
                    <a:pt x="800321" y="1514475"/>
                  </a:lnTo>
                  <a:cubicBezTo>
                    <a:pt x="896136" y="1562383"/>
                    <a:pt x="817353" y="1528157"/>
                    <a:pt x="914621" y="1557337"/>
                  </a:cubicBezTo>
                  <a:cubicBezTo>
                    <a:pt x="993404" y="1580971"/>
                    <a:pt x="1003744" y="1594522"/>
                    <a:pt x="1086071" y="1600200"/>
                  </a:cubicBezTo>
                  <a:cubicBezTo>
                    <a:pt x="1195452" y="1607744"/>
                    <a:pt x="1305146" y="1609725"/>
                    <a:pt x="1414684" y="1614487"/>
                  </a:cubicBezTo>
                  <a:cubicBezTo>
                    <a:pt x="1447343" y="1712469"/>
                    <a:pt x="1408775" y="1590853"/>
                    <a:pt x="1443259" y="1728787"/>
                  </a:cubicBezTo>
                  <a:cubicBezTo>
                    <a:pt x="1451668" y="1762423"/>
                    <a:pt x="1462309" y="1795462"/>
                    <a:pt x="1471834" y="1828800"/>
                  </a:cubicBezTo>
                  <a:cubicBezTo>
                    <a:pt x="1553671" y="1767421"/>
                    <a:pt x="1696719" y="1661064"/>
                    <a:pt x="1743296" y="1614487"/>
                  </a:cubicBezTo>
                  <a:cubicBezTo>
                    <a:pt x="1829021" y="1528762"/>
                    <a:pt x="1909233" y="1437145"/>
                    <a:pt x="2000471" y="1357312"/>
                  </a:cubicBezTo>
                  <a:cubicBezTo>
                    <a:pt x="2195973" y="1186249"/>
                    <a:pt x="2043267" y="1330399"/>
                    <a:pt x="2186209" y="1171575"/>
                  </a:cubicBezTo>
                  <a:cubicBezTo>
                    <a:pt x="2204231" y="1151550"/>
                    <a:pt x="2225618" y="1134700"/>
                    <a:pt x="2243359" y="1114425"/>
                  </a:cubicBezTo>
                  <a:cubicBezTo>
                    <a:pt x="2259040" y="1096504"/>
                    <a:pt x="2272380" y="1076652"/>
                    <a:pt x="2286221" y="1057275"/>
                  </a:cubicBezTo>
                  <a:cubicBezTo>
                    <a:pt x="2311844" y="1021402"/>
                    <a:pt x="2325432" y="999120"/>
                    <a:pt x="2343371" y="957262"/>
                  </a:cubicBezTo>
                  <a:cubicBezTo>
                    <a:pt x="2349304" y="943419"/>
                    <a:pt x="2352896" y="928687"/>
                    <a:pt x="2357659" y="914400"/>
                  </a:cubicBezTo>
                  <a:cubicBezTo>
                    <a:pt x="2352896" y="885825"/>
                    <a:pt x="2361034" y="851637"/>
                    <a:pt x="2343371" y="828675"/>
                  </a:cubicBezTo>
                  <a:cubicBezTo>
                    <a:pt x="2278783" y="744710"/>
                    <a:pt x="2245251" y="738817"/>
                    <a:pt x="2171921" y="714375"/>
                  </a:cubicBezTo>
                  <a:cubicBezTo>
                    <a:pt x="2157634" y="704850"/>
                    <a:pt x="2144750" y="692774"/>
                    <a:pt x="2129059" y="685800"/>
                  </a:cubicBezTo>
                  <a:cubicBezTo>
                    <a:pt x="2101534" y="673567"/>
                    <a:pt x="2043334" y="657225"/>
                    <a:pt x="2043334" y="657225"/>
                  </a:cubicBezTo>
                  <a:cubicBezTo>
                    <a:pt x="2024284" y="642937"/>
                    <a:pt x="2001429" y="632655"/>
                    <a:pt x="1986184" y="614362"/>
                  </a:cubicBezTo>
                  <a:cubicBezTo>
                    <a:pt x="1974621" y="600486"/>
                    <a:pt x="1958073" y="502380"/>
                    <a:pt x="1957609" y="500062"/>
                  </a:cubicBezTo>
                  <a:cubicBezTo>
                    <a:pt x="1952846" y="433387"/>
                    <a:pt x="1962183" y="364166"/>
                    <a:pt x="1943321" y="300037"/>
                  </a:cubicBezTo>
                  <a:cubicBezTo>
                    <a:pt x="1939979" y="288675"/>
                    <a:pt x="1857277" y="240240"/>
                    <a:pt x="1843309" y="228600"/>
                  </a:cubicBezTo>
                  <a:cubicBezTo>
                    <a:pt x="1827787" y="215665"/>
                    <a:pt x="1816888" y="197481"/>
                    <a:pt x="1800446" y="185737"/>
                  </a:cubicBezTo>
                  <a:cubicBezTo>
                    <a:pt x="1783115" y="173357"/>
                    <a:pt x="1761788" y="167729"/>
                    <a:pt x="1743296" y="157162"/>
                  </a:cubicBezTo>
                  <a:cubicBezTo>
                    <a:pt x="1610466" y="81259"/>
                    <a:pt x="1818880" y="184404"/>
                    <a:pt x="1628996" y="100012"/>
                  </a:cubicBezTo>
                  <a:cubicBezTo>
                    <a:pt x="1609533" y="91362"/>
                    <a:pt x="1592052" y="78172"/>
                    <a:pt x="1571846" y="71437"/>
                  </a:cubicBezTo>
                  <a:cubicBezTo>
                    <a:pt x="1548808" y="63758"/>
                    <a:pt x="1524221" y="61912"/>
                    <a:pt x="1500409" y="57150"/>
                  </a:cubicBezTo>
                  <a:cubicBezTo>
                    <a:pt x="1486121" y="47625"/>
                    <a:pt x="1473329" y="35339"/>
                    <a:pt x="1457546" y="28575"/>
                  </a:cubicBezTo>
                  <a:cubicBezTo>
                    <a:pt x="1439887" y="21007"/>
                    <a:pt x="1341679" y="2544"/>
                    <a:pt x="1328959" y="0"/>
                  </a:cubicBezTo>
                  <a:cubicBezTo>
                    <a:pt x="1276893" y="7438"/>
                    <a:pt x="1222324" y="11732"/>
                    <a:pt x="1171796" y="28575"/>
                  </a:cubicBezTo>
                  <a:cubicBezTo>
                    <a:pt x="1149532" y="35996"/>
                    <a:pt x="1087603" y="64747"/>
                    <a:pt x="1057496" y="71437"/>
                  </a:cubicBezTo>
                  <a:cubicBezTo>
                    <a:pt x="1029217" y="77721"/>
                    <a:pt x="1000273" y="80543"/>
                    <a:pt x="971771" y="85725"/>
                  </a:cubicBezTo>
                  <a:cubicBezTo>
                    <a:pt x="947879" y="90069"/>
                    <a:pt x="924040" y="94744"/>
                    <a:pt x="900334" y="100012"/>
                  </a:cubicBezTo>
                  <a:cubicBezTo>
                    <a:pt x="881165" y="104272"/>
                    <a:pt x="861570" y="107405"/>
                    <a:pt x="843184" y="114300"/>
                  </a:cubicBezTo>
                  <a:cubicBezTo>
                    <a:pt x="823242" y="121778"/>
                    <a:pt x="805084" y="133350"/>
                    <a:pt x="786034" y="142875"/>
                  </a:cubicBezTo>
                  <a:cubicBezTo>
                    <a:pt x="709926" y="127653"/>
                    <a:pt x="750315" y="119062"/>
                    <a:pt x="743171" y="11430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894098D-B438-BD2F-9D5F-4B3A8F5F11ED}"/>
                    </a:ext>
                  </a:extLst>
                </p:cNvPr>
                <p:cNvSpPr txBox="1"/>
                <p:nvPr/>
              </p:nvSpPr>
              <p:spPr>
                <a:xfrm>
                  <a:off x="6110729" y="1580118"/>
                  <a:ext cx="19643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B98C56C-07CC-67F3-36B0-BBEA7F6B2A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0729" y="1580118"/>
                  <a:ext cx="196435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0869728-1823-FFA0-F0CD-01B1F283DA2F}"/>
              </a:ext>
            </a:extLst>
          </p:cNvPr>
          <p:cNvCxnSpPr>
            <a:cxnSpLocks/>
          </p:cNvCxnSpPr>
          <p:nvPr/>
        </p:nvCxnSpPr>
        <p:spPr>
          <a:xfrm>
            <a:off x="4367501" y="3347518"/>
            <a:ext cx="16494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C3C0025-BD56-FB43-DC73-98FC1683CA54}"/>
              </a:ext>
            </a:extLst>
          </p:cNvPr>
          <p:cNvCxnSpPr>
            <a:cxnSpLocks/>
          </p:cNvCxnSpPr>
          <p:nvPr/>
        </p:nvCxnSpPr>
        <p:spPr>
          <a:xfrm flipH="1">
            <a:off x="6586538" y="5995444"/>
            <a:ext cx="23598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5ED0240-3268-2F42-C33A-04464CDC63DA}"/>
                  </a:ext>
                </a:extLst>
              </p:cNvPr>
              <p:cNvSpPr txBox="1"/>
              <p:nvPr/>
            </p:nvSpPr>
            <p:spPr>
              <a:xfrm>
                <a:off x="941475" y="1844698"/>
                <a:ext cx="20216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State domain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5ED0240-3268-2F42-C33A-04464CDC6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475" y="1844698"/>
                <a:ext cx="2021682" cy="369332"/>
              </a:xfrm>
              <a:prstGeom prst="rect">
                <a:avLst/>
              </a:prstGeom>
              <a:blipFill>
                <a:blip r:embed="rId8"/>
                <a:stretch>
                  <a:fillRect l="-186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6B2BD98-75B0-80A5-2C0A-F88895432CC7}"/>
                  </a:ext>
                </a:extLst>
              </p:cNvPr>
              <p:cNvSpPr txBox="1"/>
              <p:nvPr/>
            </p:nvSpPr>
            <p:spPr>
              <a:xfrm>
                <a:off x="6278051" y="1926699"/>
                <a:ext cx="3096336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Jacobian domain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6B2BD98-75B0-80A5-2C0A-F88895432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051" y="1926699"/>
                <a:ext cx="3096336" cy="379656"/>
              </a:xfrm>
              <a:prstGeom prst="rect">
                <a:avLst/>
              </a:prstGeom>
              <a:blipFill>
                <a:blip r:embed="rId9"/>
                <a:stretch>
                  <a:fillRect l="-1633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B7F32E50-55B8-F67A-5137-09375F3422E7}"/>
              </a:ext>
            </a:extLst>
          </p:cNvPr>
          <p:cNvGrpSpPr/>
          <p:nvPr/>
        </p:nvGrpSpPr>
        <p:grpSpPr>
          <a:xfrm>
            <a:off x="1643224" y="4578322"/>
            <a:ext cx="1362074" cy="658938"/>
            <a:chOff x="1893203" y="3960539"/>
            <a:chExt cx="1362074" cy="658938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E681FE6-743C-23B2-6684-BA0C1DE25997}"/>
                </a:ext>
              </a:extLst>
            </p:cNvPr>
            <p:cNvSpPr/>
            <p:nvPr/>
          </p:nvSpPr>
          <p:spPr>
            <a:xfrm>
              <a:off x="1893203" y="3960539"/>
              <a:ext cx="1362074" cy="658938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7748C64-1098-6057-EB81-6D4C251C269D}"/>
                    </a:ext>
                  </a:extLst>
                </p:cNvPr>
                <p:cNvSpPr txBox="1"/>
                <p:nvPr/>
              </p:nvSpPr>
              <p:spPr>
                <a:xfrm>
                  <a:off x="1979590" y="4258636"/>
                  <a:ext cx="1096455" cy="300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(0))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07BE649-A878-BA37-BB6E-8CF5E4801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9590" y="4258636"/>
                  <a:ext cx="1096455" cy="3002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94413F4A-DD95-7B5E-91F5-9DBEDD79BFED}"/>
              </a:ext>
            </a:extLst>
          </p:cNvPr>
          <p:cNvSpPr/>
          <p:nvPr/>
        </p:nvSpPr>
        <p:spPr>
          <a:xfrm>
            <a:off x="2294790" y="4884944"/>
            <a:ext cx="45719" cy="4571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A0DEDF8B-BDFE-45A1-EE1B-D891D11CDCF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66352" y="4540180"/>
            <a:ext cx="614272" cy="10724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A4ED3463-14D4-2937-0B76-0D2FF22E1131}"/>
              </a:ext>
            </a:extLst>
          </p:cNvPr>
          <p:cNvSpPr/>
          <p:nvPr/>
        </p:nvSpPr>
        <p:spPr>
          <a:xfrm>
            <a:off x="2410457" y="4291906"/>
            <a:ext cx="45719" cy="4571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7C1AD64-400F-54A0-56CA-C9EDD7C7CAC5}"/>
                  </a:ext>
                </a:extLst>
              </p:cNvPr>
              <p:cNvSpPr txBox="1"/>
              <p:nvPr/>
            </p:nvSpPr>
            <p:spPr>
              <a:xfrm>
                <a:off x="5227621" y="5716057"/>
                <a:ext cx="1110689" cy="401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7C1AD64-400F-54A0-56CA-C9EDD7C7C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621" y="5716057"/>
                <a:ext cx="1110689" cy="401648"/>
              </a:xfrm>
              <a:prstGeom prst="rect">
                <a:avLst/>
              </a:prstGeom>
              <a:blipFill>
                <a:blip r:embed="rId12"/>
                <a:stretch>
                  <a:fillRect l="-4494" t="-6250" r="-224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9059C00-BBEE-EFD0-8B69-C5C0D3E1C47D}"/>
              </a:ext>
            </a:extLst>
          </p:cNvPr>
          <p:cNvCxnSpPr>
            <a:cxnSpLocks/>
          </p:cNvCxnSpPr>
          <p:nvPr/>
        </p:nvCxnSpPr>
        <p:spPr>
          <a:xfrm flipH="1">
            <a:off x="4133187" y="5980898"/>
            <a:ext cx="947449" cy="5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1E6EE71-B33B-50A2-39D6-7FF15F94F17E}"/>
                  </a:ext>
                </a:extLst>
              </p:cNvPr>
              <p:cNvSpPr txBox="1"/>
              <p:nvPr/>
            </p:nvSpPr>
            <p:spPr>
              <a:xfrm>
                <a:off x="2482608" y="4275399"/>
                <a:ext cx="4337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1E6EE71-B33B-50A2-39D6-7FF15F94F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608" y="4275399"/>
                <a:ext cx="433709" cy="276999"/>
              </a:xfrm>
              <a:prstGeom prst="rect">
                <a:avLst/>
              </a:prstGeom>
              <a:blipFill>
                <a:blip r:embed="rId13"/>
                <a:stretch>
                  <a:fillRect r="-8571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B5CC2A9-878E-BE9F-8B33-F7AA252E0C2E}"/>
                  </a:ext>
                </a:extLst>
              </p:cNvPr>
              <p:cNvSpPr txBox="1"/>
              <p:nvPr/>
            </p:nvSpPr>
            <p:spPr>
              <a:xfrm>
                <a:off x="2310293" y="4679660"/>
                <a:ext cx="34271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B5CC2A9-878E-BE9F-8B33-F7AA252E0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293" y="4679660"/>
                <a:ext cx="342719" cy="276999"/>
              </a:xfrm>
              <a:prstGeom prst="rect">
                <a:avLst/>
              </a:prstGeom>
              <a:blipFill>
                <a:blip r:embed="rId14"/>
                <a:stretch>
                  <a:fillRect r="-35714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27A7F5B-225B-417C-3F1B-A819E4ABDDE2}"/>
                  </a:ext>
                </a:extLst>
              </p:cNvPr>
              <p:cNvSpPr txBox="1"/>
              <p:nvPr/>
            </p:nvSpPr>
            <p:spPr>
              <a:xfrm>
                <a:off x="9063318" y="5270241"/>
                <a:ext cx="3128682" cy="1357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≻0</m:t>
                              </m:r>
                            </m:lim>
                          </m:limLow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b="0" dirty="0"/>
                  <a:t>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27A7F5B-225B-417C-3F1B-A819E4ABD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3318" y="5270241"/>
                <a:ext cx="3128682" cy="135761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ADCB665C-75EA-1CD3-D94F-74786C9EE011}"/>
              </a:ext>
            </a:extLst>
          </p:cNvPr>
          <p:cNvCxnSpPr>
            <a:cxnSpLocks/>
            <a:endCxn id="67" idx="0"/>
          </p:cNvCxnSpPr>
          <p:nvPr/>
        </p:nvCxnSpPr>
        <p:spPr>
          <a:xfrm rot="16200000" flipH="1">
            <a:off x="8753852" y="3396434"/>
            <a:ext cx="1922724" cy="1824890"/>
          </a:xfrm>
          <a:prstGeom prst="bentConnector3">
            <a:avLst>
              <a:gd name="adj1" fmla="val 9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1D5BBB-98AE-0551-0E24-C9C1607F458C}"/>
                  </a:ext>
                </a:extLst>
              </p:cNvPr>
              <p:cNvSpPr txBox="1"/>
              <p:nvPr/>
            </p:nvSpPr>
            <p:spPr>
              <a:xfrm>
                <a:off x="4716305" y="2913577"/>
                <a:ext cx="7286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1D5BBB-98AE-0551-0E24-C9C1607F4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305" y="2913577"/>
                <a:ext cx="72866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C3901EE-D6D0-7F10-51AC-CD79E0CD497B}"/>
                  </a:ext>
                </a:extLst>
              </p:cNvPr>
              <p:cNvSpPr txBox="1"/>
              <p:nvPr/>
            </p:nvSpPr>
            <p:spPr>
              <a:xfrm>
                <a:off x="9020895" y="2911555"/>
                <a:ext cx="18248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C3901EE-D6D0-7F10-51AC-CD79E0CD4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895" y="2911555"/>
                <a:ext cx="18248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589FC77-83B4-91AB-3669-8D71F0313075}"/>
                  </a:ext>
                </a:extLst>
              </p:cNvPr>
              <p:cNvSpPr txBox="1"/>
              <p:nvPr/>
            </p:nvSpPr>
            <p:spPr>
              <a:xfrm>
                <a:off x="6648735" y="5520200"/>
                <a:ext cx="2228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589FC77-83B4-91AB-3669-8D71F0313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735" y="5520200"/>
                <a:ext cx="2228306" cy="369332"/>
              </a:xfrm>
              <a:prstGeom prst="rect">
                <a:avLst/>
              </a:prstGeom>
              <a:blipFill>
                <a:blip r:embed="rId1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D5E9207-E13D-3FC7-3ADB-2A15845C5D0D}"/>
                  </a:ext>
                </a:extLst>
              </p:cNvPr>
              <p:cNvSpPr txBox="1"/>
              <p:nvPr/>
            </p:nvSpPr>
            <p:spPr>
              <a:xfrm>
                <a:off x="4421330" y="5525026"/>
                <a:ext cx="616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D5E9207-E13D-3FC7-3ADB-2A15845C5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330" y="5525026"/>
                <a:ext cx="61655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52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60" grpId="0" animBg="1"/>
      <p:bldP spid="62" grpId="0" animBg="1"/>
      <p:bldP spid="63" grpId="0"/>
      <p:bldP spid="65" grpId="0"/>
      <p:bldP spid="67" grpId="0"/>
      <p:bldP spid="69" grpId="0"/>
      <p:bldP spid="70" grpId="0"/>
      <p:bldP spid="71" grpId="0"/>
      <p:bldP spid="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3C0FD-24ED-638A-5C1C-E718C415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2924-D617-8442-AE31-1448A226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Assumptions in Theorem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DC10D-2005-0C9B-23B4-83FA7FF1C2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Assumptions:</a:t>
                </a:r>
              </a:p>
              <a:p>
                <a:pPr lvl="1"/>
                <a:r>
                  <a:rPr lang="en-US" dirty="0"/>
                  <a:t>there exists a compact convex 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∈[0,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t</a:t>
                </a:r>
                <a:r>
                  <a:rPr lang="en-US" b="0" dirty="0">
                    <a:ea typeface="Cambria Math" panose="02040503050406030204" pitchFamily="18" charset="0"/>
                  </a:rPr>
                  <a:t>here exists a convex superset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</a:t>
                </a:r>
              </a:p>
              <a:p>
                <a:pPr lvl="1"/>
                <a:r>
                  <a:rPr lang="en-US" dirty="0"/>
                  <a:t>there exists a positive definite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a real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</a:t>
                </a:r>
              </a:p>
              <a:p>
                <a:r>
                  <a:rPr lang="en-US" dirty="0"/>
                  <a:t>How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satisfying the above three assumptions?</a:t>
                </a:r>
              </a:p>
              <a:p>
                <a:pPr lvl="1"/>
                <a:r>
                  <a:rPr lang="en-US" dirty="0"/>
                  <a:t>How to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--- Lipschitz constant or other reachability tools</a:t>
                </a:r>
              </a:p>
              <a:p>
                <a:pPr lvl="1"/>
                <a:r>
                  <a:rPr lang="en-US" dirty="0"/>
                  <a:t>How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--- formed by element-wise linear bound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via CROWN</a:t>
                </a:r>
              </a:p>
              <a:p>
                <a:pPr lvl="1"/>
                <a:r>
                  <a:rPr lang="en-US" dirty="0"/>
                  <a:t>How to find feasible (optimal)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--- linear search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DC10D-2005-0C9B-23B4-83FA7FF1C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>
                <a:blip r:embed="rId2"/>
                <a:stretch>
                  <a:fillRect l="-1006" t="-2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een light on a black background&#10;&#10;Description automatically generated">
            <a:extLst>
              <a:ext uri="{FF2B5EF4-FFF2-40B4-BE49-F238E27FC236}">
                <a16:creationId xmlns:a16="http://schemas.microsoft.com/office/drawing/2014/main" id="{4A286430-148D-A653-A4DB-E9FD884B1D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93" r="55432" b="33519"/>
          <a:stretch/>
        </p:blipFill>
        <p:spPr>
          <a:xfrm>
            <a:off x="9458324" y="365124"/>
            <a:ext cx="2414588" cy="13255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9437D-8310-BC58-DD07-86971B31A3AD}"/>
              </a:ext>
            </a:extLst>
          </p:cNvPr>
          <p:cNvSpPr txBox="1"/>
          <p:nvPr/>
        </p:nvSpPr>
        <p:spPr>
          <a:xfrm>
            <a:off x="5640779" y="29747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70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B5BC-A9BA-8E96-9AF9-90DA89C0E2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D4D8F-773F-9FBF-6B68-236DFED55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07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2EE08-A386-3915-69E8-B54B5E4A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and Baselines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AA1FFD-0C8F-1510-4D7E-A8C605E79D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Benchmarks:</a:t>
                </a:r>
              </a:p>
              <a:p>
                <a:pPr lvl="1"/>
                <a:r>
                  <a:rPr lang="en-US" dirty="0" err="1"/>
                  <a:t>Nonsmooth</a:t>
                </a:r>
                <a:r>
                  <a:rPr lang="en-US" dirty="0"/>
                  <a:t> systems:</a:t>
                </a:r>
              </a:p>
              <a:p>
                <a:pPr lvl="2"/>
                <a:r>
                  <a:rPr lang="en-US" dirty="0"/>
                  <a:t>Hybrid models that are also </a:t>
                </a:r>
                <a:r>
                  <a:rPr lang="en-US" dirty="0" err="1"/>
                  <a:t>nonsmooth</a:t>
                </a:r>
                <a:r>
                  <a:rPr lang="en-US" dirty="0"/>
                  <a:t> systems, e.g. </a:t>
                </a:r>
                <a:r>
                  <a:rPr lang="en-US" dirty="0" err="1"/>
                  <a:t>CarFollowing</a:t>
                </a:r>
                <a:endParaRPr lang="en-US" dirty="0"/>
              </a:p>
              <a:p>
                <a:pPr lvl="2"/>
                <a:r>
                  <a:rPr lang="en-US" dirty="0"/>
                  <a:t>Switch models whose switching occurs based 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Small </a:t>
                </a:r>
                <a:r>
                  <a:rPr lang="en-US" dirty="0" err="1"/>
                  <a:t>ReLU</a:t>
                </a:r>
                <a:r>
                  <a:rPr lang="en-US" dirty="0"/>
                  <a:t> neural ODE, which can be perceived as hybrid systems</a:t>
                </a:r>
              </a:p>
              <a:p>
                <a:pPr lvl="1"/>
                <a:r>
                  <a:rPr lang="en-US" dirty="0" err="1"/>
                  <a:t>ReLU</a:t>
                </a:r>
                <a:r>
                  <a:rPr lang="en-US" dirty="0"/>
                  <a:t> Neural ODE:</a:t>
                </a:r>
              </a:p>
              <a:p>
                <a:pPr lvl="2"/>
                <a:r>
                  <a:rPr lang="en-US" dirty="0" err="1"/>
                  <a:t>ReLU</a:t>
                </a:r>
                <a:r>
                  <a:rPr lang="en-US" dirty="0"/>
                  <a:t> neural ODE with random weights</a:t>
                </a:r>
              </a:p>
              <a:p>
                <a:pPr lvl="2"/>
                <a:r>
                  <a:rPr lang="en-US" dirty="0" err="1"/>
                  <a:t>ReLU</a:t>
                </a:r>
                <a:r>
                  <a:rPr lang="en-US" dirty="0"/>
                  <a:t> neural ODE trained to approximate standard smooth models</a:t>
                </a:r>
              </a:p>
              <a:p>
                <a:r>
                  <a:rPr lang="en-US" dirty="0"/>
                  <a:t>Baselines: </a:t>
                </a:r>
                <a:r>
                  <a:rPr lang="en-US" sz="2400" dirty="0"/>
                  <a:t>CORA and </a:t>
                </a:r>
                <a:r>
                  <a:rPr lang="en-US" sz="2400" dirty="0" err="1"/>
                  <a:t>JuliaReach</a:t>
                </a:r>
                <a:r>
                  <a:rPr lang="en-US" sz="2400" dirty="0"/>
                  <a:t>, two state of art verification tools on hybrid systems</a:t>
                </a:r>
              </a:p>
              <a:p>
                <a:r>
                  <a:rPr lang="en-US" dirty="0"/>
                  <a:t>Metrics</a:t>
                </a:r>
                <a:r>
                  <a:rPr lang="en-US" sz="2400" dirty="0"/>
                  <a:t>: running time (RT), volume ratio between reachable sets and initial set (F/I &amp; A/I)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AA1FFD-0C8F-1510-4D7E-A8C605E79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783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936D-F6CE-AD0B-C94C-728C44908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-6975"/>
            <a:ext cx="10515600" cy="1325563"/>
          </a:xfrm>
        </p:spPr>
        <p:txBody>
          <a:bodyPr/>
          <a:lstStyle/>
          <a:p>
            <a:r>
              <a:rPr lang="en-US" dirty="0"/>
              <a:t>Results on Non-smooth Systems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671741F-43D2-75C3-810D-09FCD83FCDC6}"/>
              </a:ext>
            </a:extLst>
          </p:cNvPr>
          <p:cNvGrpSpPr/>
          <p:nvPr/>
        </p:nvGrpSpPr>
        <p:grpSpPr>
          <a:xfrm>
            <a:off x="681037" y="1070768"/>
            <a:ext cx="6938523" cy="5611697"/>
            <a:chOff x="1411501" y="480311"/>
            <a:chExt cx="6938523" cy="5611697"/>
          </a:xfrm>
        </p:grpSpPr>
        <p:pic>
          <p:nvPicPr>
            <p:cNvPr id="5" name="Picture 4" descr="A graph of a graph of a graph&#10;&#10;Description automatically generated with medium confidence">
              <a:extLst>
                <a:ext uri="{FF2B5EF4-FFF2-40B4-BE49-F238E27FC236}">
                  <a16:creationId xmlns:a16="http://schemas.microsoft.com/office/drawing/2014/main" id="{549FA7F6-4D5E-608A-91D4-4626887DC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7465" y="4440236"/>
              <a:ext cx="2172559" cy="1448373"/>
            </a:xfrm>
            <a:prstGeom prst="rect">
              <a:avLst/>
            </a:prstGeom>
          </p:spPr>
        </p:pic>
        <p:pic>
          <p:nvPicPr>
            <p:cNvPr id="6" name="Picture 5" descr="A graph of a curve&#10;&#10;Description automatically generated">
              <a:extLst>
                <a:ext uri="{FF2B5EF4-FFF2-40B4-BE49-F238E27FC236}">
                  <a16:creationId xmlns:a16="http://schemas.microsoft.com/office/drawing/2014/main" id="{B002EF4E-98A5-675F-1E48-9649462B3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66954" y="911126"/>
              <a:ext cx="2172559" cy="1448373"/>
            </a:xfrm>
            <a:prstGeom prst="rect">
              <a:avLst/>
            </a:prstGeom>
          </p:spPr>
        </p:pic>
        <p:pic>
          <p:nvPicPr>
            <p:cNvPr id="7" name="Picture 6" descr="A graph of a curve&#10;&#10;Description automatically generated">
              <a:extLst>
                <a:ext uri="{FF2B5EF4-FFF2-40B4-BE49-F238E27FC236}">
                  <a16:creationId xmlns:a16="http://schemas.microsoft.com/office/drawing/2014/main" id="{8C61811F-5450-902F-AE07-FCD181428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66955" y="2654661"/>
              <a:ext cx="2172559" cy="1448373"/>
            </a:xfrm>
            <a:prstGeom prst="rect">
              <a:avLst/>
            </a:prstGeom>
          </p:spPr>
        </p:pic>
        <p:pic>
          <p:nvPicPr>
            <p:cNvPr id="8" name="Picture 7" descr="A blue wireframe of a curved object&#10;&#10;Description automatically generated">
              <a:extLst>
                <a:ext uri="{FF2B5EF4-FFF2-40B4-BE49-F238E27FC236}">
                  <a16:creationId xmlns:a16="http://schemas.microsoft.com/office/drawing/2014/main" id="{57A3EEA7-F78F-412E-608D-1EBEE3778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5464" r="6159"/>
            <a:stretch/>
          </p:blipFill>
          <p:spPr>
            <a:xfrm>
              <a:off x="4140864" y="4408706"/>
              <a:ext cx="2111050" cy="1540144"/>
            </a:xfrm>
            <a:prstGeom prst="rect">
              <a:avLst/>
            </a:prstGeom>
          </p:spPr>
        </p:pic>
        <p:pic>
          <p:nvPicPr>
            <p:cNvPr id="9" name="Picture 8" descr="A graph of a curved curve&#10;&#10;Description automatically generated">
              <a:extLst>
                <a:ext uri="{FF2B5EF4-FFF2-40B4-BE49-F238E27FC236}">
                  <a16:creationId xmlns:a16="http://schemas.microsoft.com/office/drawing/2014/main" id="{971E8A83-3CF0-AA0C-0040-F92257231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5885" r="6133"/>
            <a:stretch/>
          </p:blipFill>
          <p:spPr>
            <a:xfrm>
              <a:off x="4130354" y="2595625"/>
              <a:ext cx="2111050" cy="1587463"/>
            </a:xfrm>
            <a:prstGeom prst="rect">
              <a:avLst/>
            </a:prstGeom>
          </p:spPr>
        </p:pic>
        <p:pic>
          <p:nvPicPr>
            <p:cNvPr id="10" name="Picture 9" descr="A graph of lines and a bird&#10;&#10;Description automatically generated with medium confidence">
              <a:extLst>
                <a:ext uri="{FF2B5EF4-FFF2-40B4-BE49-F238E27FC236}">
                  <a16:creationId xmlns:a16="http://schemas.microsoft.com/office/drawing/2014/main" id="{6F6E5E54-28F4-6753-B813-6996E79C9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6847" r="6455"/>
            <a:stretch/>
          </p:blipFill>
          <p:spPr>
            <a:xfrm>
              <a:off x="4130354" y="815457"/>
              <a:ext cx="2111051" cy="1576649"/>
            </a:xfrm>
            <a:prstGeom prst="rect">
              <a:avLst/>
            </a:prstGeom>
          </p:spPr>
        </p:pic>
        <p:pic>
          <p:nvPicPr>
            <p:cNvPr id="11" name="Picture 10" descr="A blue line with a black line&#10;&#10;Description automatically generated">
              <a:extLst>
                <a:ext uri="{FF2B5EF4-FFF2-40B4-BE49-F238E27FC236}">
                  <a16:creationId xmlns:a16="http://schemas.microsoft.com/office/drawing/2014/main" id="{001D4BE1-1FC4-D4D9-F517-293CD5519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9484" r="6805"/>
            <a:stretch/>
          </p:blipFill>
          <p:spPr>
            <a:xfrm>
              <a:off x="2021032" y="4408706"/>
              <a:ext cx="2175986" cy="1585083"/>
            </a:xfrm>
            <a:prstGeom prst="rect">
              <a:avLst/>
            </a:prstGeom>
          </p:spPr>
        </p:pic>
        <p:pic>
          <p:nvPicPr>
            <p:cNvPr id="12" name="Picture 11" descr="A graph of a spiral with lines and a blue line&#10;&#10;Description automatically generated with medium confidence">
              <a:extLst>
                <a:ext uri="{FF2B5EF4-FFF2-40B4-BE49-F238E27FC236}">
                  <a16:creationId xmlns:a16="http://schemas.microsoft.com/office/drawing/2014/main" id="{53CF8247-ECD7-F69C-360C-2CF20D409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t="6803" r="6805"/>
            <a:stretch/>
          </p:blipFill>
          <p:spPr>
            <a:xfrm>
              <a:off x="2046802" y="797788"/>
              <a:ext cx="2139706" cy="1604827"/>
            </a:xfrm>
            <a:prstGeom prst="rect">
              <a:avLst/>
            </a:prstGeom>
          </p:spPr>
        </p:pic>
        <p:pic>
          <p:nvPicPr>
            <p:cNvPr id="13" name="Picture 12" descr="A graph of a line&#10;&#10;Description automatically generated">
              <a:extLst>
                <a:ext uri="{FF2B5EF4-FFF2-40B4-BE49-F238E27FC236}">
                  <a16:creationId xmlns:a16="http://schemas.microsoft.com/office/drawing/2014/main" id="{B14131E0-CFFC-DAE2-43DE-3B1CDB9EF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6803" r="5224"/>
            <a:stretch/>
          </p:blipFill>
          <p:spPr>
            <a:xfrm>
              <a:off x="2010522" y="2564095"/>
              <a:ext cx="2175986" cy="160482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AF4CCD7-675A-8777-8E70-9A17891CBE93}"/>
                    </a:ext>
                  </a:extLst>
                </p:cNvPr>
                <p:cNvSpPr txBox="1"/>
                <p:nvPr/>
              </p:nvSpPr>
              <p:spPr>
                <a:xfrm>
                  <a:off x="2802448" y="2221648"/>
                  <a:ext cx="9202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E27085A-8419-7873-61E5-6D83153191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448" y="2221648"/>
                  <a:ext cx="920236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12968F7-D41A-1B33-5DC7-9EC326235CBD}"/>
                    </a:ext>
                  </a:extLst>
                </p:cNvPr>
                <p:cNvSpPr txBox="1"/>
                <p:nvPr/>
              </p:nvSpPr>
              <p:spPr>
                <a:xfrm>
                  <a:off x="4801719" y="2221648"/>
                  <a:ext cx="9202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BA48C02-2B68-C61C-74CB-8A5AEF46DD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1719" y="2221648"/>
                  <a:ext cx="920236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910C05C-EEDF-BFE8-D4B8-E20F361A91DC}"/>
                    </a:ext>
                  </a:extLst>
                </p:cNvPr>
                <p:cNvSpPr txBox="1"/>
                <p:nvPr/>
              </p:nvSpPr>
              <p:spPr>
                <a:xfrm>
                  <a:off x="6991504" y="2221647"/>
                  <a:ext cx="9202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7DCF2F6-FED2-022C-3396-01DDE547B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504" y="2221647"/>
                  <a:ext cx="920236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E498B46-1389-BD32-CED8-299561710C99}"/>
                    </a:ext>
                  </a:extLst>
                </p:cNvPr>
                <p:cNvSpPr txBox="1"/>
                <p:nvPr/>
              </p:nvSpPr>
              <p:spPr>
                <a:xfrm>
                  <a:off x="1787337" y="1240583"/>
                  <a:ext cx="400110" cy="761275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4066006-D417-6AC7-69A5-09DC66546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7337" y="1240583"/>
                  <a:ext cx="400110" cy="76127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BB2EAB7-6CB5-8E3C-01EA-A35494CE36E1}"/>
                    </a:ext>
                  </a:extLst>
                </p:cNvPr>
                <p:cNvSpPr txBox="1"/>
                <p:nvPr/>
              </p:nvSpPr>
              <p:spPr>
                <a:xfrm>
                  <a:off x="2723621" y="4009996"/>
                  <a:ext cx="9202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44931FE-8864-E8DE-CBE9-8638D73653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3621" y="4009996"/>
                  <a:ext cx="920236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966727C-BD92-C87B-6BE0-D2FA13D38366}"/>
                    </a:ext>
                  </a:extLst>
                </p:cNvPr>
                <p:cNvSpPr txBox="1"/>
                <p:nvPr/>
              </p:nvSpPr>
              <p:spPr>
                <a:xfrm>
                  <a:off x="4722892" y="4009996"/>
                  <a:ext cx="9202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F8601EB-9A23-AEFD-174F-56B302A82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2892" y="4009996"/>
                  <a:ext cx="920236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B3B4034-3595-0F00-654D-1134BA751CD1}"/>
                    </a:ext>
                  </a:extLst>
                </p:cNvPr>
                <p:cNvSpPr txBox="1"/>
                <p:nvPr/>
              </p:nvSpPr>
              <p:spPr>
                <a:xfrm>
                  <a:off x="6912677" y="4009995"/>
                  <a:ext cx="9202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71B9EED-2073-1302-D97B-A190867744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2677" y="4009995"/>
                  <a:ext cx="920236" cy="30777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AAAF306-12C9-C8F2-DFEC-A141639ED238}"/>
                    </a:ext>
                  </a:extLst>
                </p:cNvPr>
                <p:cNvSpPr txBox="1"/>
                <p:nvPr/>
              </p:nvSpPr>
              <p:spPr>
                <a:xfrm>
                  <a:off x="2631669" y="5784231"/>
                  <a:ext cx="9202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C2F5EDC-B617-4AC8-B825-0FF1762959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1669" y="5784231"/>
                  <a:ext cx="920236" cy="30777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B08A11A-51D1-2CEA-9605-C50170EF9C09}"/>
                    </a:ext>
                  </a:extLst>
                </p:cNvPr>
                <p:cNvSpPr txBox="1"/>
                <p:nvPr/>
              </p:nvSpPr>
              <p:spPr>
                <a:xfrm>
                  <a:off x="4630940" y="5784231"/>
                  <a:ext cx="9202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68EDB32-180E-4E7F-E165-F73D119514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0940" y="5784231"/>
                  <a:ext cx="920236" cy="30777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483624B-E44B-CDB4-651B-30E1D0571642}"/>
                    </a:ext>
                  </a:extLst>
                </p:cNvPr>
                <p:cNvSpPr txBox="1"/>
                <p:nvPr/>
              </p:nvSpPr>
              <p:spPr>
                <a:xfrm>
                  <a:off x="6820725" y="5784230"/>
                  <a:ext cx="9202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F9F63D0-EB21-7229-2879-AC0C58C240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0725" y="5784230"/>
                  <a:ext cx="920236" cy="30777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348A72C-AC36-5368-1884-924F2D0C880C}"/>
                    </a:ext>
                  </a:extLst>
                </p:cNvPr>
                <p:cNvSpPr txBox="1"/>
                <p:nvPr/>
              </p:nvSpPr>
              <p:spPr>
                <a:xfrm>
                  <a:off x="1787337" y="2985870"/>
                  <a:ext cx="400110" cy="761275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394EB94-CC3F-190D-4514-71DC57C74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7337" y="2985870"/>
                  <a:ext cx="400110" cy="76127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5B90F14-BEF7-C5C7-1611-4631CDDC9589}"/>
                    </a:ext>
                  </a:extLst>
                </p:cNvPr>
                <p:cNvSpPr txBox="1"/>
                <p:nvPr/>
              </p:nvSpPr>
              <p:spPr>
                <a:xfrm>
                  <a:off x="1787337" y="4772295"/>
                  <a:ext cx="400110" cy="761275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92B8753-185E-738C-7122-2CA722CB1E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7337" y="4772295"/>
                  <a:ext cx="400110" cy="76127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632F45-B99C-14EA-64F5-34C12164C142}"/>
                    </a:ext>
                  </a:extLst>
                </p:cNvPr>
                <p:cNvSpPr txBox="1"/>
                <p:nvPr/>
              </p:nvSpPr>
              <p:spPr>
                <a:xfrm>
                  <a:off x="1492580" y="815457"/>
                  <a:ext cx="461665" cy="1436254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𝑆𝑚𝑎𝑙𝑙𝑁𝑁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3504105-B527-A629-0451-A5528707A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2580" y="815457"/>
                  <a:ext cx="461665" cy="1436254"/>
                </a:xfrm>
                <a:prstGeom prst="rect">
                  <a:avLst/>
                </a:prstGeom>
                <a:blipFill>
                  <a:blip r:embed="rId23"/>
                  <a:stretch>
                    <a:fillRect t="-1754" b="-1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90CFDF8-E3EA-650C-0C45-0EE8CA4CBF30}"/>
                    </a:ext>
                  </a:extLst>
                </p:cNvPr>
                <p:cNvSpPr txBox="1"/>
                <p:nvPr/>
              </p:nvSpPr>
              <p:spPr>
                <a:xfrm>
                  <a:off x="1462848" y="2563192"/>
                  <a:ext cx="461665" cy="1559215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𝑆𝑤𝑖𝑡𝑐h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𝑅𝑜𝑏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AA4F277-105F-A5B1-34FA-2C3070E2E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2848" y="2563192"/>
                  <a:ext cx="461665" cy="155921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608D073-7211-9921-9BB0-A1AC30199148}"/>
                    </a:ext>
                  </a:extLst>
                </p:cNvPr>
                <p:cNvSpPr txBox="1"/>
                <p:nvPr/>
              </p:nvSpPr>
              <p:spPr>
                <a:xfrm>
                  <a:off x="1411501" y="4344325"/>
                  <a:ext cx="461665" cy="1559215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𝑆𝑤𝑖𝑡𝑐h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𝐿𝐿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67055A0-77F4-9113-D075-BE62273F4F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1501" y="4344325"/>
                  <a:ext cx="461665" cy="1559215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119E0FE-6B24-14EA-13B5-FBADF6D7E8B6}"/>
                    </a:ext>
                  </a:extLst>
                </p:cNvPr>
                <p:cNvSpPr txBox="1"/>
                <p:nvPr/>
              </p:nvSpPr>
              <p:spPr>
                <a:xfrm>
                  <a:off x="2624762" y="480311"/>
                  <a:ext cx="11858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𝑂𝑢𝑟𝑠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365BA30-CDDE-0944-2D6C-2E6785C430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4762" y="480311"/>
                  <a:ext cx="1185862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F7CAE28-0468-2502-BB70-BD4914DCB8F9}"/>
                    </a:ext>
                  </a:extLst>
                </p:cNvPr>
                <p:cNvSpPr txBox="1"/>
                <p:nvPr/>
              </p:nvSpPr>
              <p:spPr>
                <a:xfrm>
                  <a:off x="4607583" y="496106"/>
                  <a:ext cx="11858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𝐶𝑂𝑅𝐴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9B8C63F-8374-D27B-3C79-0CDA27D6A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7583" y="496106"/>
                  <a:ext cx="1185862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B1C2DE9-2AE7-CA93-9A15-13F74F896296}"/>
                    </a:ext>
                  </a:extLst>
                </p:cNvPr>
                <p:cNvSpPr txBox="1"/>
                <p:nvPr/>
              </p:nvSpPr>
              <p:spPr>
                <a:xfrm>
                  <a:off x="6590404" y="496106"/>
                  <a:ext cx="11858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𝐽𝑢𝑙𝑖𝑎𝑅𝑒𝑎𝑐h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41D3D4C-C881-A00B-85CB-45A15CC8C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0404" y="496106"/>
                  <a:ext cx="1185862" cy="369332"/>
                </a:xfrm>
                <a:prstGeom prst="rect">
                  <a:avLst/>
                </a:prstGeom>
                <a:blipFill>
                  <a:blip r:embed="rId28"/>
                  <a:stretch>
                    <a:fillRect l="-1053" r="-9474" b="-96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E4F77D51-AF15-C8FD-1FD4-8E285AB5038E}"/>
              </a:ext>
            </a:extLst>
          </p:cNvPr>
          <p:cNvSpPr txBox="1"/>
          <p:nvPr/>
        </p:nvSpPr>
        <p:spPr>
          <a:xfrm>
            <a:off x="8190131" y="1440100"/>
            <a:ext cx="3816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</a:t>
            </a:r>
            <a:r>
              <a:rPr lang="en-US"/>
              <a:t>Tighter reachable </a:t>
            </a:r>
            <a:r>
              <a:rPr lang="en-US" dirty="0"/>
              <a:t>sets</a:t>
            </a:r>
          </a:p>
          <a:p>
            <a:r>
              <a:rPr lang="en-US" dirty="0"/>
              <a:t>2 Avoid blowing-up near </a:t>
            </a:r>
            <a:r>
              <a:rPr lang="en-US" dirty="0" err="1"/>
              <a:t>nonsmooth</a:t>
            </a:r>
            <a:r>
              <a:rPr lang="en-US" dirty="0"/>
              <a:t> hyperplane</a:t>
            </a:r>
          </a:p>
        </p:txBody>
      </p:sp>
    </p:spTree>
    <p:extLst>
      <p:ext uri="{BB962C8B-B14F-4D97-AF65-F5344CB8AC3E}">
        <p14:creationId xmlns:p14="http://schemas.microsoft.com/office/powerpoint/2010/main" val="347039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8993E-5DFC-0CD5-1242-0050AA358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on Non-smooth Systems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68EA5-F498-D102-AC17-CC2D0E9F3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5425"/>
            <a:ext cx="10488110" cy="36337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831F8D-7835-D15C-BDBE-1471774BDE4F}"/>
              </a:ext>
            </a:extLst>
          </p:cNvPr>
          <p:cNvSpPr/>
          <p:nvPr/>
        </p:nvSpPr>
        <p:spPr>
          <a:xfrm>
            <a:off x="4729162" y="4100513"/>
            <a:ext cx="6597148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2E70C-FE5C-F58A-FFB0-F26CA46ED0AC}"/>
              </a:ext>
            </a:extLst>
          </p:cNvPr>
          <p:cNvSpPr txBox="1"/>
          <p:nvPr/>
        </p:nvSpPr>
        <p:spPr>
          <a:xfrm>
            <a:off x="838200" y="5362575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Tighter reachable set on 10 over 12 models</a:t>
            </a:r>
          </a:p>
          <a:p>
            <a:pPr marL="342900" indent="-342900">
              <a:buAutoNum type="arabicPeriod"/>
            </a:pPr>
            <a:r>
              <a:rPr lang="en-US" dirty="0"/>
              <a:t>Faster computation  on 8 over 12 models.  </a:t>
            </a:r>
          </a:p>
          <a:p>
            <a:pPr marL="342900" indent="-342900">
              <a:buAutoNum type="arabicPeriod"/>
            </a:pPr>
            <a:r>
              <a:rPr lang="en-US" dirty="0"/>
              <a:t>At most, 10 times more accurate </a:t>
            </a:r>
          </a:p>
        </p:txBody>
      </p:sp>
    </p:spTree>
    <p:extLst>
      <p:ext uri="{BB962C8B-B14F-4D97-AF65-F5344CB8AC3E}">
        <p14:creationId xmlns:p14="http://schemas.microsoft.com/office/powerpoint/2010/main" val="448602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7FDD-3DEE-945F-65E9-7561E8D5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96" y="6168"/>
            <a:ext cx="10515600" cy="1325563"/>
          </a:xfrm>
        </p:spPr>
        <p:txBody>
          <a:bodyPr/>
          <a:lstStyle/>
          <a:p>
            <a:r>
              <a:rPr lang="en-US" dirty="0"/>
              <a:t>Results on </a:t>
            </a:r>
            <a:r>
              <a:rPr lang="en-US" dirty="0" err="1"/>
              <a:t>ReLU</a:t>
            </a:r>
            <a:r>
              <a:rPr lang="en-US" dirty="0"/>
              <a:t> Neural ODE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29EB66-3A9F-2C55-5411-40E323DD34A7}"/>
              </a:ext>
            </a:extLst>
          </p:cNvPr>
          <p:cNvGrpSpPr/>
          <p:nvPr/>
        </p:nvGrpSpPr>
        <p:grpSpPr>
          <a:xfrm>
            <a:off x="524796" y="1170493"/>
            <a:ext cx="6672232" cy="5550982"/>
            <a:chOff x="1349927" y="563973"/>
            <a:chExt cx="6672232" cy="5550982"/>
          </a:xfrm>
        </p:grpSpPr>
        <p:pic>
          <p:nvPicPr>
            <p:cNvPr id="5" name="Picture 4" descr="A graph of a spiral&#10;&#10;Description automatically generated">
              <a:extLst>
                <a:ext uri="{FF2B5EF4-FFF2-40B4-BE49-F238E27FC236}">
                  <a16:creationId xmlns:a16="http://schemas.microsoft.com/office/drawing/2014/main" id="{498D8A4D-538C-D905-2093-F87E16AB1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232" r="9134"/>
            <a:stretch/>
          </p:blipFill>
          <p:spPr>
            <a:xfrm>
              <a:off x="1415491" y="857758"/>
              <a:ext cx="2113549" cy="1566015"/>
            </a:xfrm>
            <a:prstGeom prst="rect">
              <a:avLst/>
            </a:prstGeom>
          </p:spPr>
        </p:pic>
        <p:pic>
          <p:nvPicPr>
            <p:cNvPr id="6" name="Picture 5" descr="A blue and black oval with lines&#10;&#10;Description automatically generated">
              <a:extLst>
                <a:ext uri="{FF2B5EF4-FFF2-40B4-BE49-F238E27FC236}">
                  <a16:creationId xmlns:a16="http://schemas.microsoft.com/office/drawing/2014/main" id="{4977E1D1-F075-1CC0-610D-68E08B137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397" r="8930"/>
            <a:stretch/>
          </p:blipFill>
          <p:spPr>
            <a:xfrm>
              <a:off x="5813515" y="818355"/>
              <a:ext cx="2118289" cy="1632917"/>
            </a:xfrm>
            <a:prstGeom prst="rect">
              <a:avLst/>
            </a:prstGeom>
          </p:spPr>
        </p:pic>
        <p:pic>
          <p:nvPicPr>
            <p:cNvPr id="7" name="Picture 6" descr="A graph of a curve&#10;&#10;Description automatically generated">
              <a:extLst>
                <a:ext uri="{FF2B5EF4-FFF2-40B4-BE49-F238E27FC236}">
                  <a16:creationId xmlns:a16="http://schemas.microsoft.com/office/drawing/2014/main" id="{7AED3060-2528-BBC0-B28E-6059CBB03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0232" r="9134"/>
            <a:stretch/>
          </p:blipFill>
          <p:spPr>
            <a:xfrm>
              <a:off x="1374752" y="2634393"/>
              <a:ext cx="2159987" cy="1600423"/>
            </a:xfrm>
            <a:prstGeom prst="rect">
              <a:avLst/>
            </a:prstGeom>
          </p:spPr>
        </p:pic>
        <p:pic>
          <p:nvPicPr>
            <p:cNvPr id="8" name="Picture 7" descr="A blue circle with black lines&#10;&#10;Description automatically generated">
              <a:extLst>
                <a:ext uri="{FF2B5EF4-FFF2-40B4-BE49-F238E27FC236}">
                  <a16:creationId xmlns:a16="http://schemas.microsoft.com/office/drawing/2014/main" id="{6558B740-254A-C0CF-21EA-D1FA71266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6397" r="9134"/>
            <a:stretch/>
          </p:blipFill>
          <p:spPr>
            <a:xfrm>
              <a:off x="3595736" y="806105"/>
              <a:ext cx="2113549" cy="1632917"/>
            </a:xfrm>
            <a:prstGeom prst="rect">
              <a:avLst/>
            </a:prstGeom>
          </p:spPr>
        </p:pic>
        <p:pic>
          <p:nvPicPr>
            <p:cNvPr id="9" name="Picture 8" descr="A graph of a curve&#10;&#10;Description automatically generated">
              <a:extLst>
                <a:ext uri="{FF2B5EF4-FFF2-40B4-BE49-F238E27FC236}">
                  <a16:creationId xmlns:a16="http://schemas.microsoft.com/office/drawing/2014/main" id="{DDF6BC5F-D745-B13E-501E-454FE24E9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6397" r="9134"/>
            <a:stretch/>
          </p:blipFill>
          <p:spPr>
            <a:xfrm>
              <a:off x="3600258" y="2578237"/>
              <a:ext cx="2159987" cy="1668795"/>
            </a:xfrm>
            <a:prstGeom prst="rect">
              <a:avLst/>
            </a:prstGeom>
          </p:spPr>
        </p:pic>
        <p:pic>
          <p:nvPicPr>
            <p:cNvPr id="10" name="Picture 9" descr="A graph of a spiral&#10;&#10;Description automatically generated">
              <a:extLst>
                <a:ext uri="{FF2B5EF4-FFF2-40B4-BE49-F238E27FC236}">
                  <a16:creationId xmlns:a16="http://schemas.microsoft.com/office/drawing/2014/main" id="{9E8D04D1-53B0-22A4-379C-3D09ACCE2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6397" r="8930"/>
            <a:stretch/>
          </p:blipFill>
          <p:spPr>
            <a:xfrm>
              <a:off x="5813515" y="2589641"/>
              <a:ext cx="2167281" cy="1670683"/>
            </a:xfrm>
            <a:prstGeom prst="rect">
              <a:avLst/>
            </a:prstGeom>
          </p:spPr>
        </p:pic>
        <p:pic>
          <p:nvPicPr>
            <p:cNvPr id="11" name="Picture 10" descr="A graph of a graph&#10;&#10;Description automatically generated">
              <a:extLst>
                <a:ext uri="{FF2B5EF4-FFF2-40B4-BE49-F238E27FC236}">
                  <a16:creationId xmlns:a16="http://schemas.microsoft.com/office/drawing/2014/main" id="{70B2477C-C41E-6F99-B00F-C3CA93ADE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4977" r="8930"/>
            <a:stretch/>
          </p:blipFill>
          <p:spPr>
            <a:xfrm>
              <a:off x="5824025" y="4371325"/>
              <a:ext cx="2198134" cy="172016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048B0D8-1D8D-95F4-7117-9FE7E95A1A75}"/>
                    </a:ext>
                  </a:extLst>
                </p:cNvPr>
                <p:cNvSpPr txBox="1"/>
                <p:nvPr/>
              </p:nvSpPr>
              <p:spPr>
                <a:xfrm>
                  <a:off x="1593986" y="580759"/>
                  <a:ext cx="190977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𝐴𝑝𝑝𝑟𝑜𝑥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𝐵𝑟𝑢𝑠𝑠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667111C-E0C6-D0EA-E819-0094DBA7B4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986" y="580759"/>
                  <a:ext cx="1909778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847D930-EC6C-2FE5-807D-A790C5A18C0A}"/>
                    </a:ext>
                  </a:extLst>
                </p:cNvPr>
                <p:cNvSpPr txBox="1"/>
                <p:nvPr/>
              </p:nvSpPr>
              <p:spPr>
                <a:xfrm>
                  <a:off x="3752363" y="586571"/>
                  <a:ext cx="190977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𝐴𝑝𝑝𝑟𝑜𝑥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𝑉𝐷𝑃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4623411-143C-70A4-0D43-F82C8195D1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2363" y="586571"/>
                  <a:ext cx="1909778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C5759CC-61C6-42EB-B5E2-6D560887D2A7}"/>
                    </a:ext>
                  </a:extLst>
                </p:cNvPr>
                <p:cNvSpPr txBox="1"/>
                <p:nvPr/>
              </p:nvSpPr>
              <p:spPr>
                <a:xfrm>
                  <a:off x="5957884" y="563973"/>
                  <a:ext cx="190977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𝐴𝑝𝑝𝑟𝑜𝑥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𝐿𝑉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1C0C104-AAB4-DA0F-52BC-2228DD8481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7884" y="563973"/>
                  <a:ext cx="1909778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231AD72-6ECA-F86C-B787-8E0A4ED04A19}"/>
                    </a:ext>
                  </a:extLst>
                </p:cNvPr>
                <p:cNvSpPr txBox="1"/>
                <p:nvPr/>
              </p:nvSpPr>
              <p:spPr>
                <a:xfrm>
                  <a:off x="1599402" y="2383459"/>
                  <a:ext cx="190977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𝐴𝑝𝑝𝑟𝑜𝑥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𝑅𝑜𝑏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138383F-59A4-C59B-C835-5A3FE2E62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9402" y="2383459"/>
                  <a:ext cx="1909778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D96D4BE-EC7D-194B-8000-7B4FB584648A}"/>
                    </a:ext>
                  </a:extLst>
                </p:cNvPr>
                <p:cNvSpPr txBox="1"/>
                <p:nvPr/>
              </p:nvSpPr>
              <p:spPr>
                <a:xfrm>
                  <a:off x="3827582" y="2401852"/>
                  <a:ext cx="190977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𝑟𝑎𝑛𝑑𝑁𝑁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8FDBC3C-1789-6C58-BE6B-A3F9D62B09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582" y="2401852"/>
                  <a:ext cx="1909778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F19755A-A053-E7B9-F843-9CB82375DFA8}"/>
                    </a:ext>
                  </a:extLst>
                </p:cNvPr>
                <p:cNvSpPr txBox="1"/>
                <p:nvPr/>
              </p:nvSpPr>
              <p:spPr>
                <a:xfrm>
                  <a:off x="6071018" y="2419936"/>
                  <a:ext cx="190977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𝑟𝑎𝑛𝑑𝑁𝑁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20FC18D-69FC-B9B3-4B15-E81E1FBCF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1018" y="2419936"/>
                  <a:ext cx="1909778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9A1C35F-1E3E-0642-EE17-B38B81F4AD49}"/>
                    </a:ext>
                  </a:extLst>
                </p:cNvPr>
                <p:cNvSpPr txBox="1"/>
                <p:nvPr/>
              </p:nvSpPr>
              <p:spPr>
                <a:xfrm>
                  <a:off x="1609337" y="4205586"/>
                  <a:ext cx="190977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𝑟𝑎𝑛𝑑𝑁𝑁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53C0552-6887-7D55-722B-EC8AEAE07F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9337" y="4205586"/>
                  <a:ext cx="1909778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C8BC102-400A-0F32-75E1-A987492616F5}"/>
                    </a:ext>
                  </a:extLst>
                </p:cNvPr>
                <p:cNvSpPr txBox="1"/>
                <p:nvPr/>
              </p:nvSpPr>
              <p:spPr>
                <a:xfrm>
                  <a:off x="3799507" y="4237878"/>
                  <a:ext cx="190977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𝑟𝑎𝑛𝑑𝑁𝑁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DFEE5AC-65B1-6487-D2A2-6D5ACD2B5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9507" y="4237878"/>
                  <a:ext cx="1909778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B46220A-0A7C-4E76-681E-C9D9A736BACD}"/>
                    </a:ext>
                  </a:extLst>
                </p:cNvPr>
                <p:cNvSpPr txBox="1"/>
                <p:nvPr/>
              </p:nvSpPr>
              <p:spPr>
                <a:xfrm>
                  <a:off x="6075296" y="4237878"/>
                  <a:ext cx="190977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𝑟𝑎𝑛𝑑𝑁𝑁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34CB386-C044-9D84-E76A-D8BC24341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296" y="4237878"/>
                  <a:ext cx="1909778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1" name="Picture 20" descr="A graph of a curved line&#10;&#10;Description automatically generated with medium confidence">
              <a:extLst>
                <a:ext uri="{FF2B5EF4-FFF2-40B4-BE49-F238E27FC236}">
                  <a16:creationId xmlns:a16="http://schemas.microsoft.com/office/drawing/2014/main" id="{A8D3AEEA-13F2-21AC-385B-1AA946DB5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t="7674" r="8179"/>
            <a:stretch/>
          </p:blipFill>
          <p:spPr>
            <a:xfrm>
              <a:off x="1349927" y="4458816"/>
              <a:ext cx="2182154" cy="1645629"/>
            </a:xfrm>
            <a:prstGeom prst="rect">
              <a:avLst/>
            </a:prstGeom>
          </p:spPr>
        </p:pic>
        <p:pic>
          <p:nvPicPr>
            <p:cNvPr id="22" name="Picture 21" descr="A graph of a graph with lines and curves&#10;&#10;Description automatically generated with medium confidence">
              <a:extLst>
                <a:ext uri="{FF2B5EF4-FFF2-40B4-BE49-F238E27FC236}">
                  <a16:creationId xmlns:a16="http://schemas.microsoft.com/office/drawing/2014/main" id="{70123436-371C-AD01-2B7D-02104C756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t="7674" r="8179"/>
            <a:stretch/>
          </p:blipFill>
          <p:spPr>
            <a:xfrm>
              <a:off x="3582661" y="4457276"/>
              <a:ext cx="2198134" cy="1657679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36675C1-477E-09ED-3B1E-B60D24D94408}"/>
              </a:ext>
            </a:extLst>
          </p:cNvPr>
          <p:cNvSpPr txBox="1"/>
          <p:nvPr/>
        </p:nvSpPr>
        <p:spPr>
          <a:xfrm>
            <a:off x="7785508" y="1699194"/>
            <a:ext cx="3816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Sound over-approximation</a:t>
            </a:r>
          </a:p>
          <a:p>
            <a:r>
              <a:rPr lang="en-US" dirty="0"/>
              <a:t>2 Not too much conservativeness</a:t>
            </a:r>
          </a:p>
        </p:txBody>
      </p:sp>
    </p:spTree>
    <p:extLst>
      <p:ext uri="{BB962C8B-B14F-4D97-AF65-F5344CB8AC3E}">
        <p14:creationId xmlns:p14="http://schemas.microsoft.com/office/powerpoint/2010/main" val="3774215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E0DE-B31E-1F95-AF38-D0FFC5DA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on </a:t>
            </a:r>
            <a:r>
              <a:rPr lang="en-US" dirty="0" err="1"/>
              <a:t>ReLU</a:t>
            </a:r>
            <a:r>
              <a:rPr lang="en-US" dirty="0"/>
              <a:t> Neural ODE</a:t>
            </a:r>
          </a:p>
        </p:txBody>
      </p:sp>
      <p:pic>
        <p:nvPicPr>
          <p:cNvPr id="5" name="Picture 4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D9BE5A6B-7484-AB79-EAFC-C438D1B79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85912"/>
            <a:ext cx="9991725" cy="381502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4DED6F-38E0-55C7-BDFF-8FA838238FDC}"/>
              </a:ext>
            </a:extLst>
          </p:cNvPr>
          <p:cNvSpPr/>
          <p:nvPr/>
        </p:nvSpPr>
        <p:spPr>
          <a:xfrm>
            <a:off x="2514604" y="5029199"/>
            <a:ext cx="3581396" cy="3717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97997-2D9B-28E7-097A-3EFB3728211D}"/>
              </a:ext>
            </a:extLst>
          </p:cNvPr>
          <p:cNvSpPr txBox="1"/>
          <p:nvPr/>
        </p:nvSpPr>
        <p:spPr>
          <a:xfrm>
            <a:off x="992981" y="5569545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Works for systems up to 12 dimension and 200 neurons</a:t>
            </a:r>
          </a:p>
        </p:txBody>
      </p:sp>
    </p:spTree>
    <p:extLst>
      <p:ext uri="{BB962C8B-B14F-4D97-AF65-F5344CB8AC3E}">
        <p14:creationId xmlns:p14="http://schemas.microsoft.com/office/powerpoint/2010/main" val="1409478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31AF-AFB8-2DE0-2432-3AE5871D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F9211-0C86-6DCE-11A6-1ACE895A2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Our novel approach provides a 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sound over-approximation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of the reachable set via sensitivity functions and linear bound on Lexicographic Jacobians.</a:t>
            </a:r>
          </a:p>
          <a:p>
            <a:r>
              <a:rPr lang="en-US" dirty="0">
                <a:solidFill>
                  <a:srgbClr val="000000"/>
                </a:solidFill>
                <a:latin typeface="-webkit-standard"/>
              </a:rPr>
              <a:t>Our method achieves </a:t>
            </a:r>
            <a:r>
              <a:rPr lang="en-US" b="1" dirty="0">
                <a:solidFill>
                  <a:srgbClr val="000000"/>
                </a:solidFill>
                <a:latin typeface="-webkit-standard"/>
              </a:rPr>
              <a:t>50% more accurate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, up to </a:t>
            </a:r>
            <a:r>
              <a:rPr lang="en-US" b="1" dirty="0">
                <a:solidFill>
                  <a:srgbClr val="000000"/>
                </a:solidFill>
                <a:latin typeface="-webkit-standard"/>
              </a:rPr>
              <a:t>10 times more accurate 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on </a:t>
            </a:r>
            <a:r>
              <a:rPr lang="en-US" dirty="0" err="1">
                <a:solidFill>
                  <a:srgbClr val="000000"/>
                </a:solidFill>
                <a:latin typeface="-webkit-standard"/>
              </a:rPr>
              <a:t>nonsmooth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 benchmarks compared with top 2 hybrid verification tools (CORA and </a:t>
            </a:r>
            <a:r>
              <a:rPr lang="en-US" dirty="0" err="1">
                <a:solidFill>
                  <a:srgbClr val="000000"/>
                </a:solidFill>
                <a:latin typeface="-webkit-standard"/>
              </a:rPr>
              <a:t>JuliaReach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).</a:t>
            </a:r>
          </a:p>
          <a:p>
            <a:r>
              <a:rPr lang="en-US" dirty="0">
                <a:solidFill>
                  <a:srgbClr val="000000"/>
                </a:solidFill>
                <a:latin typeface="-webkit-standard"/>
              </a:rPr>
              <a:t>Our method enables reachability analysis for </a:t>
            </a:r>
            <a:r>
              <a:rPr lang="en-US" b="1" dirty="0" err="1">
                <a:solidFill>
                  <a:srgbClr val="000000"/>
                </a:solidFill>
                <a:latin typeface="-webkit-standard"/>
              </a:rPr>
              <a:t>ReLU</a:t>
            </a:r>
            <a:r>
              <a:rPr lang="en-US" b="1" dirty="0">
                <a:solidFill>
                  <a:srgbClr val="000000"/>
                </a:solidFill>
                <a:latin typeface="-webkit-standard"/>
              </a:rPr>
              <a:t> neural ODEs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 up to </a:t>
            </a:r>
            <a:r>
              <a:rPr lang="en-US" b="1" dirty="0">
                <a:solidFill>
                  <a:srgbClr val="000000"/>
                </a:solidFill>
                <a:latin typeface="-webkit-standard"/>
              </a:rPr>
              <a:t>12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 dimensions and </a:t>
            </a:r>
            <a:r>
              <a:rPr lang="en-US" b="1" dirty="0">
                <a:solidFill>
                  <a:srgbClr val="000000"/>
                </a:solidFill>
                <a:latin typeface="-webkit-standard"/>
              </a:rPr>
              <a:t>200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 neurons. To our knowledge, this is the </a:t>
            </a:r>
            <a:r>
              <a:rPr lang="en-US" b="1" dirty="0">
                <a:solidFill>
                  <a:srgbClr val="000000"/>
                </a:solidFill>
                <a:latin typeface="-webkit-standard"/>
              </a:rPr>
              <a:t>first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 method capable of such analysis.</a:t>
            </a:r>
          </a:p>
          <a:p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r>
              <a:rPr lang="en-US" dirty="0">
                <a:solidFill>
                  <a:srgbClr val="000000"/>
                </a:solidFill>
                <a:latin typeface="-webkit-standard"/>
              </a:rPr>
              <a:t>Next: Replace Lexicographic Jacobian by a generalized Taylor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90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862-711F-735A-F229-F51269531C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A60E6-971F-A733-B482-0B83F4FCD0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27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4|13.9|12.7|20.8|7.3|10.1|1.6|1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1006</Words>
  <Application>Microsoft Macintosh PowerPoint</Application>
  <PresentationFormat>Widescreen</PresentationFormat>
  <Paragraphs>159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-webkit-standard</vt:lpstr>
      <vt:lpstr>NimbusRomNo9L</vt:lpstr>
      <vt:lpstr>Aptos</vt:lpstr>
      <vt:lpstr>Aptos Display</vt:lpstr>
      <vt:lpstr>Arial</vt:lpstr>
      <vt:lpstr>Cambria Math</vt:lpstr>
      <vt:lpstr>Office Theme</vt:lpstr>
      <vt:lpstr>Reachability of Non-smooth systems via Lexicographic Jacobian</vt:lpstr>
      <vt:lpstr>Motivation: Reachability for Safety Verification</vt:lpstr>
      <vt:lpstr>Motivation: Non-smooth Systems</vt:lpstr>
      <vt:lpstr>Background: Lexicographic Jacobian for single input and single output function</vt:lpstr>
      <vt:lpstr>Sensitivity Function Bounding Distance between Two Solutions</vt:lpstr>
      <vt:lpstr>Animation of Reachable Set Computation</vt:lpstr>
      <vt:lpstr>Three Assumptions in Theorem 1</vt:lpstr>
      <vt:lpstr>Experiment Results</vt:lpstr>
      <vt:lpstr>Benchmark and Baselines</vt:lpstr>
      <vt:lpstr>Results on Non-smooth Systems</vt:lpstr>
      <vt:lpstr>Results on Non-smooth Systems</vt:lpstr>
      <vt:lpstr>Results on ReLU Neural ODE</vt:lpstr>
      <vt:lpstr>Results on ReLU Neural ODE</vt:lpstr>
      <vt:lpstr>Conclusion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Ji, Chenxi</dc:creator>
  <cp:lastModifiedBy>Ji, Chenxi</cp:lastModifiedBy>
  <cp:revision>11</cp:revision>
  <dcterms:created xsi:type="dcterms:W3CDTF">2025-01-24T17:04:15Z</dcterms:created>
  <dcterms:modified xsi:type="dcterms:W3CDTF">2025-08-26T19:04:53Z</dcterms:modified>
</cp:coreProperties>
</file>